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4fe1b69d0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d4fe1b69d0_2_75: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4fe1b69d0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4fe1b69d0_2_87: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4fe1b69d0_2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d4fe1b69d0_2_98: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8714226c1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8714226c13_2_0: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8714226c13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8714226c13_2_13: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4fe1b69d0_2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d4fe1b69d0_2_122: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4fe1b69d0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3d4fe1b69d0_2_152: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4fe1b69d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d4fe1b69d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4fe1b69d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d4fe1b69d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4fe1b69d0_2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d4fe1b69d0_2_160: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4fe1b69d0_2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d4fe1b69d0_2_176: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8714226c13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8714226c13_4_0: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4fe1b69d0_2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d4fe1b69d0_2_197: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d4fe1b69d0_2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d4fe1b69d0_2_205: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4fe1b69d0_2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d4fe1b69d0_2_212: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8b318b9f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8b318b9f74_1_0: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4fe1b69d0_2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d4fe1b69d0_2_239: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4fe1b69d0_2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3d4fe1b69d0_2_247: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4fe1b69d0_2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3d4fe1b69d0_2_255: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d4fe1b69d0_2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d4fe1b69d0_2_313: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4fe1b69d0_2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3d4fe1b69d0_2_290: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4fe1b69d0_2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d4fe1b69d0_2_322: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479" y="1597819"/>
            <a:ext cx="5830759"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957" y="2914650"/>
            <a:ext cx="4801801"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86" y="1200150"/>
            <a:ext cx="6173744"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870" y="3305175"/>
            <a:ext cx="5830759"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870" y="2180035"/>
            <a:ext cx="5830759"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86" y="1200150"/>
            <a:ext cx="3029708"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7022" y="1200150"/>
            <a:ext cx="3029708"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86" y="1151335"/>
            <a:ext cx="3030899"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86" y="1631156"/>
            <a:ext cx="3030899"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4640" y="1151335"/>
            <a:ext cx="3032090"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4640" y="1631156"/>
            <a:ext cx="3032090"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86" y="204788"/>
            <a:ext cx="2256799"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958" y="204788"/>
            <a:ext cx="3834772"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86" y="1076325"/>
            <a:ext cx="2256799"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552" y="3600450"/>
            <a:ext cx="411583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552" y="459581"/>
            <a:ext cx="4115830" cy="3086100"/>
          </a:xfrm>
          <a:prstGeom prst="rect">
            <a:avLst/>
          </a:prstGeom>
          <a:noFill/>
          <a:ln>
            <a:noFill/>
          </a:ln>
        </p:spPr>
      </p:sp>
      <p:sp>
        <p:nvSpPr>
          <p:cNvPr id="109" name="Google Shape;109;p22"/>
          <p:cNvSpPr txBox="1"/>
          <p:nvPr>
            <p:ph idx="1" type="body"/>
          </p:nvPr>
        </p:nvSpPr>
        <p:spPr>
          <a:xfrm>
            <a:off x="1344552" y="4025503"/>
            <a:ext cx="411583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2622" y="-189486"/>
            <a:ext cx="3394472" cy="6173744"/>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50690" y="1628582"/>
            <a:ext cx="4388644" cy="1543436"/>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654" y="142311"/>
            <a:ext cx="4388644" cy="451598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86" y="1200150"/>
            <a:ext cx="6173744"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128" name="Shape 128"/>
        <p:cNvGrpSpPr/>
        <p:nvPr/>
      </p:nvGrpSpPr>
      <p:grpSpPr>
        <a:xfrm>
          <a:off x="0" y="0"/>
          <a:ext cx="0" cy="0"/>
          <a:chOff x="0" y="0"/>
          <a:chExt cx="0" cy="0"/>
        </a:xfrm>
      </p:grpSpPr>
      <p:sp>
        <p:nvSpPr>
          <p:cNvPr id="129" name="Google Shape;129;p25"/>
          <p:cNvSpPr/>
          <p:nvPr/>
        </p:nvSpPr>
        <p:spPr>
          <a:xfrm>
            <a:off x="0" y="0"/>
            <a:ext cx="9144002" cy="5143500"/>
          </a:xfrm>
          <a:prstGeom prst="rect">
            <a:avLst/>
          </a:prstGeom>
          <a:solidFill>
            <a:srgbClr val="0D0D2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 name="Google Shape;130;p25"/>
          <p:cNvSpPr/>
          <p:nvPr/>
        </p:nvSpPr>
        <p:spPr>
          <a:xfrm>
            <a:off x="0" y="1714500"/>
            <a:ext cx="9144002" cy="41148"/>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p:nvPr/>
        </p:nvSpPr>
        <p:spPr>
          <a:xfrm>
            <a:off x="0" y="3291840"/>
            <a:ext cx="9144002" cy="41148"/>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25"/>
          <p:cNvSpPr txBox="1"/>
          <p:nvPr/>
        </p:nvSpPr>
        <p:spPr>
          <a:xfrm>
            <a:off x="342986" y="754380"/>
            <a:ext cx="8437451" cy="82296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2900" u="none" cap="none" strike="noStrike">
                <a:solidFill>
                  <a:srgbClr val="FFFFFF"/>
                </a:solidFill>
                <a:latin typeface="Calibri"/>
                <a:ea typeface="Calibri"/>
                <a:cs typeface="Calibri"/>
                <a:sym typeface="Calibri"/>
              </a:rPr>
              <a:t>Real-Time Telemetry in Open AI RAN</a:t>
            </a:r>
            <a:endParaRPr sz="1100"/>
          </a:p>
        </p:txBody>
      </p:sp>
      <p:sp>
        <p:nvSpPr>
          <p:cNvPr id="133" name="Google Shape;133;p25"/>
          <p:cNvSpPr txBox="1"/>
          <p:nvPr/>
        </p:nvSpPr>
        <p:spPr>
          <a:xfrm>
            <a:off x="353286" y="1345320"/>
            <a:ext cx="8437500" cy="3771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2000" u="none" cap="none" strike="noStrike">
                <a:solidFill>
                  <a:srgbClr val="CCCCDD"/>
                </a:solidFill>
                <a:latin typeface="Calibri"/>
                <a:ea typeface="Calibri"/>
                <a:cs typeface="Calibri"/>
                <a:sym typeface="Calibri"/>
              </a:rPr>
              <a:t>using Microsoft Janus (jBPF)</a:t>
            </a:r>
            <a:endParaRPr sz="1100"/>
          </a:p>
        </p:txBody>
      </p:sp>
      <p:sp>
        <p:nvSpPr>
          <p:cNvPr id="134" name="Google Shape;134;p25"/>
          <p:cNvSpPr txBox="1"/>
          <p:nvPr/>
        </p:nvSpPr>
        <p:spPr>
          <a:xfrm>
            <a:off x="342986" y="2057400"/>
            <a:ext cx="8437451"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1" lang="en-GB" sz="1500" u="none" cap="none" strike="noStrike">
                <a:solidFill>
                  <a:srgbClr val="F0C060"/>
                </a:solidFill>
                <a:latin typeface="Calibri"/>
                <a:ea typeface="Calibri"/>
                <a:cs typeface="Calibri"/>
                <a:sym typeface="Calibri"/>
              </a:rPr>
              <a:t>Midterm Progress Report</a:t>
            </a:r>
            <a:endParaRPr sz="1100"/>
          </a:p>
        </p:txBody>
      </p:sp>
      <p:sp>
        <p:nvSpPr>
          <p:cNvPr id="135" name="Google Shape;135;p25"/>
          <p:cNvSpPr txBox="1"/>
          <p:nvPr/>
        </p:nvSpPr>
        <p:spPr>
          <a:xfrm>
            <a:off x="342986" y="3394710"/>
            <a:ext cx="8437500" cy="253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200" u="none" cap="none" strike="noStrike">
                <a:solidFill>
                  <a:srgbClr val="CCCCDD"/>
                </a:solidFill>
                <a:latin typeface="Calibri"/>
                <a:ea typeface="Calibri"/>
                <a:cs typeface="Calibri"/>
                <a:sym typeface="Calibri"/>
              </a:rPr>
              <a:t>Maxim Bitiu   </a:t>
            </a:r>
            <a:endParaRPr sz="1100"/>
          </a:p>
        </p:txBody>
      </p:sp>
      <p:sp>
        <p:nvSpPr>
          <p:cNvPr id="136" name="Google Shape;136;p25"/>
          <p:cNvSpPr txBox="1"/>
          <p:nvPr/>
        </p:nvSpPr>
        <p:spPr>
          <a:xfrm>
            <a:off x="342986" y="3771900"/>
            <a:ext cx="84375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140" name="Shape 140"/>
        <p:cNvGrpSpPr/>
        <p:nvPr/>
      </p:nvGrpSpPr>
      <p:grpSpPr>
        <a:xfrm>
          <a:off x="0" y="0"/>
          <a:ext cx="0" cy="0"/>
          <a:chOff x="0" y="0"/>
          <a:chExt cx="0" cy="0"/>
        </a:xfrm>
      </p:grpSpPr>
      <p:sp>
        <p:nvSpPr>
          <p:cNvPr id="141" name="Google Shape;141;p26"/>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2" name="Google Shape;142;p26"/>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Why Build This?</a:t>
            </a:r>
            <a:endParaRPr sz="1100"/>
          </a:p>
        </p:txBody>
      </p:sp>
      <p:sp>
        <p:nvSpPr>
          <p:cNvPr id="143" name="Google Shape;143;p26"/>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144" name="Google Shape;144;p26"/>
          <p:cNvSpPr txBox="1"/>
          <p:nvPr/>
        </p:nvSpPr>
        <p:spPr>
          <a:xfrm>
            <a:off x="274389" y="754380"/>
            <a:ext cx="5830800" cy="3532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Standard 5G monitoring gives you ~1-second averages at the MAC layer only:</a:t>
            </a:r>
            <a:endParaRPr sz="1500"/>
          </a:p>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  • "MCS dropped from 27 to 22" — but why? Radio problem? Scheduler overloaded? Traffic flood?</a:t>
            </a:r>
            <a:endParaRPr sz="1500"/>
          </a:p>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  • No way to tell from standard metrics alone</a:t>
            </a:r>
            <a:endParaRPr sz="1500"/>
          </a:p>
          <a:p>
            <a:pPr indent="0" lvl="0" marL="0" marR="0" rtl="0" algn="l">
              <a:spcBef>
                <a:spcPts val="0"/>
              </a:spcBef>
              <a:spcAft>
                <a:spcPts val="0"/>
              </a:spcAft>
              <a:buNone/>
            </a:pPr>
            <a:r>
              <a:t/>
            </a:r>
            <a:endParaRPr b="0" i="0" sz="1500" u="none" cap="none" strike="noStrike">
              <a:solidFill>
                <a:srgbClr val="FFFFFF"/>
              </a:solidFill>
              <a:latin typeface="Calibri"/>
              <a:ea typeface="Calibri"/>
              <a:cs typeface="Calibri"/>
              <a:sym typeface="Calibri"/>
            </a:endParaRPr>
          </a:p>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eBPF (extended Berkeley Packet Filter) lets us inject probes into any running program:</a:t>
            </a:r>
            <a:endParaRPr sz="1500"/>
          </a:p>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  • Zero kernel changes — probes load and unload at runtime</a:t>
            </a:r>
            <a:endParaRPr sz="1500"/>
          </a:p>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  • Per-event granularity at every 1 ms radio slot</a:t>
            </a:r>
            <a:endParaRPr sz="1500"/>
          </a:p>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  • Multiple protocol layers simultaneously</a:t>
            </a:r>
            <a:endParaRPr sz="1500"/>
          </a:p>
          <a:p>
            <a:pPr indent="0" lvl="0" marL="0" marR="0" rtl="0" algn="l">
              <a:spcBef>
                <a:spcPts val="0"/>
              </a:spcBef>
              <a:spcAft>
                <a:spcPts val="0"/>
              </a:spcAft>
              <a:buNone/>
            </a:pPr>
            <a:r>
              <a:t/>
            </a:r>
            <a:endParaRPr b="0" i="0" sz="1500" u="none" cap="none" strike="noStrike">
              <a:solidFill>
                <a:srgbClr val="FFFFFF"/>
              </a:solidFill>
              <a:latin typeface="Calibri"/>
              <a:ea typeface="Calibri"/>
              <a:cs typeface="Calibri"/>
              <a:sym typeface="Calibri"/>
            </a:endParaRPr>
          </a:p>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Microsoft Janus (jBPF) extends eBPF to userspace gNB software:</a:t>
            </a:r>
            <a:endParaRPr sz="1500"/>
          </a:p>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  • Hook directly into the srsRAN gNB source code at 22 function call sites</a:t>
            </a:r>
            <a:endParaRPr sz="1500"/>
          </a:p>
          <a:p>
            <a:pPr indent="0" lvl="0" marL="0" marR="0" rtl="0" algn="l">
              <a:spcBef>
                <a:spcPts val="0"/>
              </a:spcBef>
              <a:spcAft>
                <a:spcPts val="0"/>
              </a:spcAft>
              <a:buNone/>
            </a:pPr>
            <a:r>
              <a:rPr b="0" i="0" lang="en-GB" sz="1500" u="none" cap="none" strike="noStrike">
                <a:solidFill>
                  <a:srgbClr val="FFFFFF"/>
                </a:solidFill>
                <a:latin typeface="Calibri"/>
                <a:ea typeface="Calibri"/>
                <a:cs typeface="Calibri"/>
                <a:sym typeface="Calibri"/>
              </a:rPr>
              <a:t>  • Capture microsecond-level events invisible to any standard interface</a:t>
            </a:r>
            <a:endParaRPr sz="1500"/>
          </a:p>
        </p:txBody>
      </p:sp>
      <p:sp>
        <p:nvSpPr>
          <p:cNvPr id="145" name="Google Shape;145;p26"/>
          <p:cNvSpPr/>
          <p:nvPr/>
        </p:nvSpPr>
        <p:spPr>
          <a:xfrm>
            <a:off x="6310939" y="822960"/>
            <a:ext cx="2606692" cy="3771900"/>
          </a:xfrm>
          <a:prstGeom prst="rect">
            <a:avLst/>
          </a:prstGeom>
          <a:solidFill>
            <a:srgbClr val="10102A"/>
          </a:solidFill>
          <a:ln cap="flat" cmpd="sng" w="19050">
            <a:solidFill>
              <a:srgbClr val="1A6FA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6" name="Google Shape;146;p26"/>
          <p:cNvSpPr txBox="1"/>
          <p:nvPr/>
        </p:nvSpPr>
        <p:spPr>
          <a:xfrm>
            <a:off x="6379536" y="925830"/>
            <a:ext cx="2469498"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F0C060"/>
                </a:solidFill>
                <a:latin typeface="Calibri"/>
                <a:ea typeface="Calibri"/>
                <a:cs typeface="Calibri"/>
                <a:sym typeface="Calibri"/>
              </a:rPr>
              <a:t>Research Question</a:t>
            </a:r>
            <a:endParaRPr sz="1100"/>
          </a:p>
        </p:txBody>
      </p:sp>
      <p:sp>
        <p:nvSpPr>
          <p:cNvPr id="147" name="Google Shape;147;p26"/>
          <p:cNvSpPr txBox="1"/>
          <p:nvPr/>
        </p:nvSpPr>
        <p:spPr>
          <a:xfrm>
            <a:off x="6379536" y="1234440"/>
            <a:ext cx="2400900" cy="32247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lang="en-GB" sz="1500">
                <a:solidFill>
                  <a:srgbClr val="FFFFFF"/>
                </a:solidFill>
                <a:latin typeface="Calibri"/>
                <a:ea typeface="Calibri"/>
                <a:cs typeface="Calibri"/>
                <a:sym typeface="Calibri"/>
              </a:rPr>
              <a:t>This project aims to implement a real-time monitoring system within an Open AI RAN</a:t>
            </a:r>
            <a:endParaRPr sz="15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500">
                <a:solidFill>
                  <a:srgbClr val="FFFFFF"/>
                </a:solidFill>
                <a:latin typeface="Calibri"/>
                <a:ea typeface="Calibri"/>
                <a:cs typeface="Calibri"/>
                <a:sym typeface="Calibri"/>
              </a:rPr>
              <a:t>environment using Microsoft Janus (JBPF). The goal is to move beyond standard "black box"monitoring by inserting codelets directly into the srsRAN software stack to capture microsecond-</a:t>
            </a:r>
            <a:endParaRPr sz="15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500">
                <a:solidFill>
                  <a:srgbClr val="FFFFFF"/>
                </a:solidFill>
                <a:latin typeface="Calibri"/>
                <a:ea typeface="Calibri"/>
                <a:cs typeface="Calibri"/>
                <a:sym typeface="Calibri"/>
              </a:rPr>
              <a:t>level events.</a:t>
            </a:r>
            <a:endParaRPr sz="15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000">
              <a:solidFill>
                <a:srgbClr val="FFFFFF"/>
              </a:solidFill>
              <a:latin typeface="Calibri"/>
              <a:ea typeface="Calibri"/>
              <a:cs typeface="Calibri"/>
              <a:sym typeface="Calibri"/>
            </a:endParaRPr>
          </a:p>
        </p:txBody>
      </p:sp>
      <p:sp>
        <p:nvSpPr>
          <p:cNvPr id="148" name="Google Shape;148;p26"/>
          <p:cNvSpPr txBox="1"/>
          <p:nvPr/>
        </p:nvSpPr>
        <p:spPr>
          <a:xfrm>
            <a:off x="6379536" y="3429000"/>
            <a:ext cx="2400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152" name="Shape 152"/>
        <p:cNvGrpSpPr/>
        <p:nvPr/>
      </p:nvGrpSpPr>
      <p:grpSpPr>
        <a:xfrm>
          <a:off x="0" y="0"/>
          <a:ext cx="0" cy="0"/>
          <a:chOff x="0" y="0"/>
          <a:chExt cx="0" cy="0"/>
        </a:xfrm>
      </p:grpSpPr>
      <p:sp>
        <p:nvSpPr>
          <p:cNvPr id="153" name="Google Shape;153;p27"/>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4" name="Google Shape;154;p27"/>
          <p:cNvSpPr txBox="1"/>
          <p:nvPr/>
        </p:nvSpPr>
        <p:spPr>
          <a:xfrm>
            <a:off x="205791" y="54864"/>
            <a:ext cx="85746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What </a:t>
            </a:r>
            <a:r>
              <a:rPr b="1" lang="en-GB" sz="2100">
                <a:solidFill>
                  <a:srgbClr val="FFFFFF"/>
                </a:solidFill>
                <a:latin typeface="Calibri"/>
                <a:ea typeface="Calibri"/>
                <a:cs typeface="Calibri"/>
                <a:sym typeface="Calibri"/>
              </a:rPr>
              <a:t>I</a:t>
            </a:r>
            <a:r>
              <a:rPr b="1" i="0" lang="en-GB" sz="2100" u="none" cap="none" strike="noStrike">
                <a:solidFill>
                  <a:srgbClr val="FFFFFF"/>
                </a:solidFill>
                <a:latin typeface="Calibri"/>
                <a:ea typeface="Calibri"/>
                <a:cs typeface="Calibri"/>
                <a:sym typeface="Calibri"/>
              </a:rPr>
              <a:t> Built</a:t>
            </a:r>
            <a:endParaRPr sz="1100"/>
          </a:p>
        </p:txBody>
      </p:sp>
      <p:sp>
        <p:nvSpPr>
          <p:cNvPr id="155" name="Google Shape;155;p27"/>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pic>
        <p:nvPicPr>
          <p:cNvPr id="156" name="Google Shape;156;p27"/>
          <p:cNvPicPr preferRelativeResize="0"/>
          <p:nvPr/>
        </p:nvPicPr>
        <p:blipFill>
          <a:blip r:embed="rId3">
            <a:alphaModFix/>
          </a:blip>
          <a:stretch>
            <a:fillRect/>
          </a:stretch>
        </p:blipFill>
        <p:spPr>
          <a:xfrm>
            <a:off x="152400" y="886200"/>
            <a:ext cx="8166099" cy="4104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160" name="Shape 160"/>
        <p:cNvGrpSpPr/>
        <p:nvPr/>
      </p:nvGrpSpPr>
      <p:grpSpPr>
        <a:xfrm>
          <a:off x="0" y="0"/>
          <a:ext cx="0" cy="0"/>
          <a:chOff x="0" y="0"/>
          <a:chExt cx="0" cy="0"/>
        </a:xfrm>
      </p:grpSpPr>
      <p:sp>
        <p:nvSpPr>
          <p:cNvPr id="161" name="Google Shape;161;p28"/>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2" name="Google Shape;162;p28"/>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First Attempt: k3d Kubernetes Deployment</a:t>
            </a:r>
            <a:endParaRPr sz="1100"/>
          </a:p>
        </p:txBody>
      </p:sp>
      <p:sp>
        <p:nvSpPr>
          <p:cNvPr id="163" name="Google Shape;163;p28"/>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164" name="Google Shape;164;p28"/>
          <p:cNvSpPr txBox="1"/>
          <p:nvPr/>
        </p:nvSpPr>
        <p:spPr>
          <a:xfrm>
            <a:off x="274389" y="1405889"/>
            <a:ext cx="3978635"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A6FAF"/>
                </a:solidFill>
                <a:latin typeface="Calibri"/>
                <a:ea typeface="Calibri"/>
                <a:cs typeface="Calibri"/>
                <a:sym typeface="Calibri"/>
              </a:rPr>
              <a:t>What k3d Offers</a:t>
            </a:r>
            <a:endParaRPr sz="1100"/>
          </a:p>
        </p:txBody>
      </p:sp>
      <p:sp>
        <p:nvSpPr>
          <p:cNvPr id="165" name="Google Shape;165;p28"/>
          <p:cNvSpPr txBox="1"/>
          <p:nvPr/>
        </p:nvSpPr>
        <p:spPr>
          <a:xfrm>
            <a:off x="274389" y="1680210"/>
            <a:ext cx="39786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Single Helm chart deploys gNB + jrtc + decoder + UE</a:t>
            </a:r>
            <a:endParaRPr sz="1100"/>
          </a:p>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ZMQ mode available</a:t>
            </a:r>
            <a:r>
              <a:rPr lang="en-GB" sz="1000">
                <a:solidFill>
                  <a:srgbClr val="FFFFFF"/>
                </a:solidFill>
                <a:latin typeface="Calibri"/>
                <a:ea typeface="Calibri"/>
                <a:cs typeface="Calibri"/>
                <a:sym typeface="Calibri"/>
              </a:rPr>
              <a:t>, </a:t>
            </a:r>
            <a:r>
              <a:rPr b="0" i="0" lang="en-GB" sz="1000" u="none" cap="none" strike="noStrike">
                <a:solidFill>
                  <a:srgbClr val="FFFFFF"/>
                </a:solidFill>
                <a:latin typeface="Calibri"/>
                <a:ea typeface="Calibri"/>
                <a:cs typeface="Calibri"/>
                <a:sym typeface="Calibri"/>
              </a:rPr>
              <a:t>no radio hardware needed</a:t>
            </a:r>
            <a:endParaRPr sz="1100"/>
          </a:p>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Designed to run on a single workstation</a:t>
            </a:r>
            <a:endParaRPr sz="1100"/>
          </a:p>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Containers handle all dependencies automatically</a:t>
            </a:r>
            <a:endParaRPr sz="1100"/>
          </a:p>
        </p:txBody>
      </p:sp>
      <p:sp>
        <p:nvSpPr>
          <p:cNvPr id="166" name="Google Shape;166;p28"/>
          <p:cNvSpPr txBox="1"/>
          <p:nvPr/>
        </p:nvSpPr>
        <p:spPr>
          <a:xfrm>
            <a:off x="4733204" y="1405889"/>
            <a:ext cx="4047232"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B22222"/>
                </a:solidFill>
                <a:latin typeface="Calibri"/>
                <a:ea typeface="Calibri"/>
                <a:cs typeface="Calibri"/>
                <a:sym typeface="Calibri"/>
              </a:rPr>
              <a:t>What Went Wrong</a:t>
            </a:r>
            <a:endParaRPr sz="1100"/>
          </a:p>
        </p:txBody>
      </p:sp>
      <p:sp>
        <p:nvSpPr>
          <p:cNvPr id="167" name="Google Shape;167;p28"/>
          <p:cNvSpPr txBox="1"/>
          <p:nvPr/>
        </p:nvSpPr>
        <p:spPr>
          <a:xfrm>
            <a:off x="4733204" y="1680210"/>
            <a:ext cx="40473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Helm chart values.yaml was built for enterprise O-RAN servers</a:t>
            </a:r>
            <a:endParaRPr sz="1100"/>
          </a:p>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Pods stayed in Pending </a:t>
            </a:r>
            <a:r>
              <a:rPr lang="en-GB" sz="1000">
                <a:solidFill>
                  <a:srgbClr val="FFFFFF"/>
                </a:solidFill>
                <a:latin typeface="Calibri"/>
                <a:ea typeface="Calibri"/>
                <a:cs typeface="Calibri"/>
                <a:sym typeface="Calibri"/>
              </a:rPr>
              <a:t>, </a:t>
            </a:r>
            <a:r>
              <a:rPr b="0" i="0" lang="en-GB" sz="1000" u="none" cap="none" strike="noStrike">
                <a:solidFill>
                  <a:srgbClr val="FFFFFF"/>
                </a:solidFill>
                <a:latin typeface="Calibri"/>
                <a:ea typeface="Calibri"/>
                <a:cs typeface="Calibri"/>
                <a:sym typeface="Calibri"/>
              </a:rPr>
              <a:t> Kubernetes couldn't schedule them</a:t>
            </a:r>
            <a:endParaRPr sz="1100"/>
          </a:p>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Required resources our machine couldn't provide:</a:t>
            </a:r>
            <a:endParaRPr sz="1100"/>
          </a:p>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Hugepages (4 Gi+)</a:t>
            </a:r>
            <a:r>
              <a:rPr lang="en-GB" sz="1000">
                <a:solidFill>
                  <a:srgbClr val="FFFFFF"/>
                </a:solidFill>
                <a:latin typeface="Calibri"/>
                <a:ea typeface="Calibri"/>
                <a:cs typeface="Calibri"/>
                <a:sym typeface="Calibri"/>
              </a:rPr>
              <a:t>, </a:t>
            </a:r>
            <a:r>
              <a:rPr b="0" i="0" lang="en-GB" sz="1000" u="none" cap="none" strike="noStrike">
                <a:solidFill>
                  <a:srgbClr val="FFFFFF"/>
                </a:solidFill>
                <a:latin typeface="Calibri"/>
                <a:ea typeface="Calibri"/>
                <a:cs typeface="Calibri"/>
                <a:sym typeface="Calibri"/>
              </a:rPr>
              <a:t> not configured on the k3d node</a:t>
            </a:r>
            <a:endParaRPr sz="1100"/>
          </a:p>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SR-IOV device plugin</a:t>
            </a:r>
            <a:r>
              <a:rPr lang="en-GB" sz="1000">
                <a:solidFill>
                  <a:srgbClr val="FFFFFF"/>
                </a:solidFill>
                <a:latin typeface="Calibri"/>
                <a:ea typeface="Calibri"/>
                <a:cs typeface="Calibri"/>
                <a:sym typeface="Calibri"/>
              </a:rPr>
              <a:t>, </a:t>
            </a:r>
            <a:r>
              <a:rPr b="0" i="0" lang="en-GB" sz="1000" u="none" cap="none" strike="noStrike">
                <a:solidFill>
                  <a:srgbClr val="FFFFFF"/>
                </a:solidFill>
                <a:latin typeface="Calibri"/>
                <a:ea typeface="Calibri"/>
                <a:cs typeface="Calibri"/>
                <a:sym typeface="Calibri"/>
              </a:rPr>
              <a:t> Intel NIC feature not present</a:t>
            </a:r>
            <a:endParaRPr sz="1100"/>
          </a:p>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DPDK CPU pinning</a:t>
            </a:r>
            <a:r>
              <a:rPr lang="en-GB" sz="1000">
                <a:solidFill>
                  <a:srgbClr val="FFFFFF"/>
                </a:solidFill>
                <a:latin typeface="Calibri"/>
                <a:ea typeface="Calibri"/>
                <a:cs typeface="Calibri"/>
                <a:sym typeface="Calibri"/>
              </a:rPr>
              <a:t>, </a:t>
            </a:r>
            <a:r>
              <a:rPr b="0" i="0" lang="en-GB" sz="1000" u="none" cap="none" strike="noStrike">
                <a:solidFill>
                  <a:srgbClr val="FFFFFF"/>
                </a:solidFill>
                <a:latin typeface="Calibri"/>
                <a:ea typeface="Calibri"/>
                <a:cs typeface="Calibri"/>
                <a:sym typeface="Calibri"/>
              </a:rPr>
              <a:t>assumes 30+ dedicated physical cores</a:t>
            </a:r>
            <a:endParaRPr sz="1100"/>
          </a:p>
          <a:p>
            <a:pPr indent="0" lvl="0" marL="0" marR="0" rtl="0" algn="l">
              <a:spcBef>
                <a:spcPts val="0"/>
              </a:spcBef>
              <a:spcAft>
                <a:spcPts val="0"/>
              </a:spcAft>
              <a:buNone/>
            </a:pPr>
            <a:r>
              <a:rPr b="0" i="0" lang="en-GB" sz="1000" u="none" cap="none" strike="noStrike">
                <a:solidFill>
                  <a:srgbClr val="FFFFFF"/>
                </a:solidFill>
                <a:latin typeface="Calibri"/>
                <a:ea typeface="Calibri"/>
                <a:cs typeface="Calibri"/>
                <a:sym typeface="Calibri"/>
              </a:rPr>
              <a:t>  · Physical RU MAC/VLAN bindings in the config</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171" name="Shape 171"/>
        <p:cNvGrpSpPr/>
        <p:nvPr/>
      </p:nvGrpSpPr>
      <p:grpSpPr>
        <a:xfrm>
          <a:off x="0" y="0"/>
          <a:ext cx="0" cy="0"/>
          <a:chOff x="0" y="0"/>
          <a:chExt cx="0" cy="0"/>
        </a:xfrm>
      </p:grpSpPr>
      <p:sp>
        <p:nvSpPr>
          <p:cNvPr id="172" name="Google Shape;172;p29"/>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3" name="Google Shape;173;p29"/>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The Fix: Bare Metal Deployment on Ubuntu 22.04</a:t>
            </a:r>
            <a:endParaRPr sz="1100"/>
          </a:p>
        </p:txBody>
      </p:sp>
      <p:sp>
        <p:nvSpPr>
          <p:cNvPr id="174" name="Google Shape;174;p29"/>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175" name="Google Shape;175;p29"/>
          <p:cNvSpPr/>
          <p:nvPr/>
        </p:nvSpPr>
        <p:spPr>
          <a:xfrm>
            <a:off x="205791" y="788670"/>
            <a:ext cx="1680630" cy="3771900"/>
          </a:xfrm>
          <a:prstGeom prst="rect">
            <a:avLst/>
          </a:prstGeom>
          <a:solidFill>
            <a:srgbClr val="1A6FAF"/>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6" name="Google Shape;176;p29"/>
          <p:cNvSpPr txBox="1"/>
          <p:nvPr/>
        </p:nvSpPr>
        <p:spPr>
          <a:xfrm>
            <a:off x="274389" y="857250"/>
            <a:ext cx="1543436"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① Build from Source</a:t>
            </a:r>
            <a:endParaRPr sz="1100"/>
          </a:p>
        </p:txBody>
      </p:sp>
      <p:sp>
        <p:nvSpPr>
          <p:cNvPr id="177" name="Google Shape;177;p29"/>
          <p:cNvSpPr txBox="1"/>
          <p:nvPr/>
        </p:nvSpPr>
        <p:spPr>
          <a:xfrm>
            <a:off x="274389" y="1337310"/>
            <a:ext cx="1543436" cy="30175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Compiled srsRAN (jBPF fork), jBPF runtime, and jrtc manually — required LLVM/Clang toolchain and specific kernel headers</a:t>
            </a:r>
            <a:endParaRPr sz="1100"/>
          </a:p>
        </p:txBody>
      </p:sp>
      <p:sp>
        <p:nvSpPr>
          <p:cNvPr id="178" name="Google Shape;178;p29"/>
          <p:cNvSpPr/>
          <p:nvPr/>
        </p:nvSpPr>
        <p:spPr>
          <a:xfrm>
            <a:off x="1968739" y="788670"/>
            <a:ext cx="1680630" cy="3771900"/>
          </a:xfrm>
          <a:prstGeom prst="rect">
            <a:avLst/>
          </a:prstGeom>
          <a:solidFill>
            <a:srgbClr val="6A0DAD"/>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9" name="Google Shape;179;p29"/>
          <p:cNvSpPr txBox="1"/>
          <p:nvPr/>
        </p:nvSpPr>
        <p:spPr>
          <a:xfrm>
            <a:off x="2003036" y="822950"/>
            <a:ext cx="1543500" cy="223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② Fix the gNB Config</a:t>
            </a:r>
            <a:endParaRPr sz="1100"/>
          </a:p>
        </p:txBody>
      </p:sp>
      <p:sp>
        <p:nvSpPr>
          <p:cNvPr id="180" name="Google Shape;180;p29"/>
          <p:cNvSpPr txBox="1"/>
          <p:nvPr/>
        </p:nvSpPr>
        <p:spPr>
          <a:xfrm>
            <a:off x="2037336" y="1337310"/>
            <a:ext cx="1543436" cy="30175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Example YAML had invalid keys that silently crashed the gNB at startup. Debugged logs, identified correct keys, rewrote the config for ZMQ mode</a:t>
            </a:r>
            <a:endParaRPr sz="1100"/>
          </a:p>
        </p:txBody>
      </p:sp>
      <p:sp>
        <p:nvSpPr>
          <p:cNvPr id="181" name="Google Shape;181;p29"/>
          <p:cNvSpPr/>
          <p:nvPr/>
        </p:nvSpPr>
        <p:spPr>
          <a:xfrm>
            <a:off x="3731686" y="788670"/>
            <a:ext cx="1680630" cy="3771900"/>
          </a:xfrm>
          <a:prstGeom prst="rect">
            <a:avLst/>
          </a:prstGeom>
          <a:solidFill>
            <a:srgbClr val="8B6914"/>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2" name="Google Shape;182;p29"/>
          <p:cNvSpPr txBox="1"/>
          <p:nvPr/>
        </p:nvSpPr>
        <p:spPr>
          <a:xfrm>
            <a:off x="3800283" y="857250"/>
            <a:ext cx="1543436"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③ Fix eBPF Verifier Errors</a:t>
            </a:r>
            <a:endParaRPr sz="1100"/>
          </a:p>
        </p:txBody>
      </p:sp>
      <p:sp>
        <p:nvSpPr>
          <p:cNvPr id="183" name="Google Shape;183;p29"/>
          <p:cNvSpPr txBox="1"/>
          <p:nvPr/>
        </p:nvSpPr>
        <p:spPr>
          <a:xfrm>
            <a:off x="3800283" y="1337310"/>
            <a:ext cx="1543436" cy="30175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All 10 MAC codelets failed the eBPF verifier and refused to load. Fixed map definitions and removed unsupported hash clear loops</a:t>
            </a:r>
            <a:endParaRPr sz="1100"/>
          </a:p>
        </p:txBody>
      </p:sp>
      <p:sp>
        <p:nvSpPr>
          <p:cNvPr id="184" name="Google Shape;184;p29"/>
          <p:cNvSpPr/>
          <p:nvPr/>
        </p:nvSpPr>
        <p:spPr>
          <a:xfrm>
            <a:off x="5494633" y="788670"/>
            <a:ext cx="1680630" cy="3771900"/>
          </a:xfrm>
          <a:prstGeom prst="rect">
            <a:avLst/>
          </a:prstGeom>
          <a:solidFill>
            <a:srgbClr val="1A8C8C"/>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5" name="Google Shape;185;p29"/>
          <p:cNvSpPr txBox="1"/>
          <p:nvPr/>
        </p:nvSpPr>
        <p:spPr>
          <a:xfrm>
            <a:off x="5563230" y="857250"/>
            <a:ext cx="1543436"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④ Fix jrtc Decoder Bug</a:t>
            </a:r>
            <a:endParaRPr sz="1100"/>
          </a:p>
        </p:txBody>
      </p:sp>
      <p:sp>
        <p:nvSpPr>
          <p:cNvPr id="186" name="Google Shape;186;p29"/>
          <p:cNvSpPr txBox="1"/>
          <p:nvPr/>
        </p:nvSpPr>
        <p:spPr>
          <a:xfrm>
            <a:off x="5563230" y="1337310"/>
            <a:ext cx="1543436" cy="30175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DL and UL HARQ codelets shared the same schema name — the decoder silently dropped one stream. Fixed in the jrtc Go source</a:t>
            </a:r>
            <a:endParaRPr sz="1100"/>
          </a:p>
        </p:txBody>
      </p:sp>
      <p:sp>
        <p:nvSpPr>
          <p:cNvPr id="187" name="Google Shape;187;p29"/>
          <p:cNvSpPr/>
          <p:nvPr/>
        </p:nvSpPr>
        <p:spPr>
          <a:xfrm>
            <a:off x="7257580" y="788670"/>
            <a:ext cx="1680630" cy="3771900"/>
          </a:xfrm>
          <a:prstGeom prst="rect">
            <a:avLst/>
          </a:prstGeom>
          <a:solidFill>
            <a:srgbClr val="2E8B57"/>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8" name="Google Shape;188;p29"/>
          <p:cNvSpPr txBox="1"/>
          <p:nvPr/>
        </p:nvSpPr>
        <p:spPr>
          <a:xfrm>
            <a:off x="7326177" y="857250"/>
            <a:ext cx="1543436"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⑤ Automate Startup</a:t>
            </a:r>
            <a:endParaRPr sz="1100"/>
          </a:p>
        </p:txBody>
      </p:sp>
      <p:sp>
        <p:nvSpPr>
          <p:cNvPr id="189" name="Google Shape;189;p29"/>
          <p:cNvSpPr txBox="1"/>
          <p:nvPr/>
        </p:nvSpPr>
        <p:spPr>
          <a:xfrm>
            <a:off x="7326177" y="1337310"/>
            <a:ext cx="1543436" cy="30175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Built a single launch script that starts all 8 components in correct order with dependency checks, timeouts, and clean shutdown</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193" name="Shape 193"/>
        <p:cNvGrpSpPr/>
        <p:nvPr/>
      </p:nvGrpSpPr>
      <p:grpSpPr>
        <a:xfrm>
          <a:off x="0" y="0"/>
          <a:ext cx="0" cy="0"/>
          <a:chOff x="0" y="0"/>
          <a:chExt cx="0" cy="0"/>
        </a:xfrm>
      </p:grpSpPr>
      <p:sp>
        <p:nvSpPr>
          <p:cNvPr id="194" name="Google Shape;194;p30"/>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5" name="Google Shape;195;p30"/>
          <p:cNvSpPr txBox="1"/>
          <p:nvPr/>
        </p:nvSpPr>
        <p:spPr>
          <a:xfrm>
            <a:off x="205791" y="54864"/>
            <a:ext cx="85746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What </a:t>
            </a:r>
            <a:r>
              <a:rPr b="1" lang="en-GB" sz="2100">
                <a:solidFill>
                  <a:srgbClr val="FFFFFF"/>
                </a:solidFill>
                <a:latin typeface="Calibri"/>
                <a:ea typeface="Calibri"/>
                <a:cs typeface="Calibri"/>
                <a:sym typeface="Calibri"/>
              </a:rPr>
              <a:t>I</a:t>
            </a:r>
            <a:r>
              <a:rPr b="1" i="0" lang="en-GB" sz="2100" u="none" cap="none" strike="noStrike">
                <a:solidFill>
                  <a:srgbClr val="FFFFFF"/>
                </a:solidFill>
                <a:latin typeface="Calibri"/>
                <a:ea typeface="Calibri"/>
                <a:cs typeface="Calibri"/>
                <a:sym typeface="Calibri"/>
              </a:rPr>
              <a:t> Hooked — 22 Instrumentation Points, 17 Schemas</a:t>
            </a:r>
            <a:endParaRPr sz="1100"/>
          </a:p>
        </p:txBody>
      </p:sp>
      <p:sp>
        <p:nvSpPr>
          <p:cNvPr id="196" name="Google Shape;196;p30"/>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197" name="Google Shape;197;p30"/>
          <p:cNvSpPr/>
          <p:nvPr/>
        </p:nvSpPr>
        <p:spPr>
          <a:xfrm>
            <a:off x="205791" y="822960"/>
            <a:ext cx="1714929" cy="3291840"/>
          </a:xfrm>
          <a:prstGeom prst="rect">
            <a:avLst/>
          </a:prstGeom>
          <a:solidFill>
            <a:srgbClr val="1A6FAF"/>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8" name="Google Shape;198;p30"/>
          <p:cNvSpPr txBox="1"/>
          <p:nvPr/>
        </p:nvSpPr>
        <p:spPr>
          <a:xfrm>
            <a:off x="240090" y="891540"/>
            <a:ext cx="1646332" cy="342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MAC Scheduler</a:t>
            </a:r>
            <a:endParaRPr sz="1100"/>
          </a:p>
        </p:txBody>
      </p:sp>
      <p:sp>
        <p:nvSpPr>
          <p:cNvPr id="199" name="Google Shape;199;p30"/>
          <p:cNvSpPr/>
          <p:nvPr/>
        </p:nvSpPr>
        <p:spPr>
          <a:xfrm>
            <a:off x="2126512" y="822960"/>
            <a:ext cx="1577735" cy="3291840"/>
          </a:xfrm>
          <a:prstGeom prst="rect">
            <a:avLst/>
          </a:prstGeom>
          <a:solidFill>
            <a:srgbClr val="0A5A8A"/>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0" name="Google Shape;200;p30"/>
          <p:cNvSpPr txBox="1"/>
          <p:nvPr/>
        </p:nvSpPr>
        <p:spPr>
          <a:xfrm>
            <a:off x="2160811" y="891540"/>
            <a:ext cx="1509137" cy="342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FAPI</a:t>
            </a:r>
            <a:br>
              <a:rPr b="1" i="0" lang="en-GB" sz="1000" u="none" cap="none" strike="noStrike">
                <a:solidFill>
                  <a:srgbClr val="FFFFFF"/>
                </a:solidFill>
                <a:latin typeface="Calibri"/>
                <a:ea typeface="Calibri"/>
                <a:cs typeface="Calibri"/>
                <a:sym typeface="Calibri"/>
              </a:rPr>
            </a:br>
            <a:r>
              <a:rPr b="1" i="0" lang="en-GB" sz="1000" u="none" cap="none" strike="noStrike">
                <a:solidFill>
                  <a:srgbClr val="FFFFFF"/>
                </a:solidFill>
                <a:latin typeface="Calibri"/>
                <a:ea typeface="Calibri"/>
                <a:cs typeface="Calibri"/>
                <a:sym typeface="Calibri"/>
              </a:rPr>
              <a:t>(PHY↔MAC)</a:t>
            </a:r>
            <a:endParaRPr sz="1100"/>
          </a:p>
        </p:txBody>
      </p:sp>
      <p:sp>
        <p:nvSpPr>
          <p:cNvPr id="201" name="Google Shape;201;p30"/>
          <p:cNvSpPr/>
          <p:nvPr/>
        </p:nvSpPr>
        <p:spPr>
          <a:xfrm>
            <a:off x="3910038" y="822960"/>
            <a:ext cx="1577735" cy="3291840"/>
          </a:xfrm>
          <a:prstGeom prst="rect">
            <a:avLst/>
          </a:prstGeom>
          <a:solidFill>
            <a:srgbClr val="6A0DAD"/>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2" name="Google Shape;202;p30"/>
          <p:cNvSpPr txBox="1"/>
          <p:nvPr/>
        </p:nvSpPr>
        <p:spPr>
          <a:xfrm>
            <a:off x="3944337" y="891540"/>
            <a:ext cx="1509137" cy="342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RLC / PDCP</a:t>
            </a:r>
            <a:endParaRPr sz="1100"/>
          </a:p>
        </p:txBody>
      </p:sp>
      <p:sp>
        <p:nvSpPr>
          <p:cNvPr id="203" name="Google Shape;203;p30"/>
          <p:cNvSpPr/>
          <p:nvPr/>
        </p:nvSpPr>
        <p:spPr>
          <a:xfrm>
            <a:off x="5693564" y="822960"/>
            <a:ext cx="1577735" cy="3291840"/>
          </a:xfrm>
          <a:prstGeom prst="rect">
            <a:avLst/>
          </a:prstGeom>
          <a:solidFill>
            <a:srgbClr val="1A8C8C"/>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4" name="Google Shape;204;p30"/>
          <p:cNvSpPr txBox="1"/>
          <p:nvPr/>
        </p:nvSpPr>
        <p:spPr>
          <a:xfrm>
            <a:off x="5727863" y="891540"/>
            <a:ext cx="1509137" cy="342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Control Plane</a:t>
            </a:r>
            <a:br>
              <a:rPr b="1" i="0" lang="en-GB" sz="1000" u="none" cap="none" strike="noStrike">
                <a:solidFill>
                  <a:srgbClr val="FFFFFF"/>
                </a:solidFill>
                <a:latin typeface="Calibri"/>
                <a:ea typeface="Calibri"/>
                <a:cs typeface="Calibri"/>
                <a:sym typeface="Calibri"/>
              </a:rPr>
            </a:br>
            <a:r>
              <a:rPr b="1" i="0" lang="en-GB" sz="1000" u="none" cap="none" strike="noStrike">
                <a:solidFill>
                  <a:srgbClr val="FFFFFF"/>
                </a:solidFill>
                <a:latin typeface="Calibri"/>
                <a:ea typeface="Calibri"/>
                <a:cs typeface="Calibri"/>
                <a:sym typeface="Calibri"/>
              </a:rPr>
              <a:t>RRC / NGAP</a:t>
            </a:r>
            <a:endParaRPr sz="1100"/>
          </a:p>
        </p:txBody>
      </p:sp>
      <p:sp>
        <p:nvSpPr>
          <p:cNvPr id="205" name="Google Shape;205;p30"/>
          <p:cNvSpPr/>
          <p:nvPr/>
        </p:nvSpPr>
        <p:spPr>
          <a:xfrm>
            <a:off x="7477090" y="822960"/>
            <a:ext cx="1440540" cy="3291840"/>
          </a:xfrm>
          <a:prstGeom prst="rect">
            <a:avLst/>
          </a:prstGeom>
          <a:solidFill>
            <a:srgbClr val="B22222"/>
          </a:solidFill>
          <a:ln cap="flat" cmpd="sng" w="19050">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6" name="Google Shape;206;p30"/>
          <p:cNvSpPr txBox="1"/>
          <p:nvPr/>
        </p:nvSpPr>
        <p:spPr>
          <a:xfrm>
            <a:off x="7511389" y="891540"/>
            <a:ext cx="1371943" cy="342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000" u="none" cap="none" strike="noStrike">
                <a:solidFill>
                  <a:srgbClr val="FFFFFF"/>
                </a:solidFill>
                <a:latin typeface="Calibri"/>
                <a:ea typeface="Calibri"/>
                <a:cs typeface="Calibri"/>
                <a:sym typeface="Calibri"/>
              </a:rPr>
              <a:t>Performance</a:t>
            </a:r>
            <a:br>
              <a:rPr b="1" i="0" lang="en-GB" sz="1000" u="none" cap="none" strike="noStrike">
                <a:solidFill>
                  <a:srgbClr val="FFFFFF"/>
                </a:solidFill>
                <a:latin typeface="Calibri"/>
                <a:ea typeface="Calibri"/>
                <a:cs typeface="Calibri"/>
                <a:sym typeface="Calibri"/>
              </a:rPr>
            </a:br>
            <a:r>
              <a:rPr b="1" i="0" lang="en-GB" sz="1000" u="none" cap="none" strike="noStrike">
                <a:solidFill>
                  <a:srgbClr val="FFFFFF"/>
                </a:solidFill>
                <a:latin typeface="Calibri"/>
                <a:ea typeface="Calibri"/>
                <a:cs typeface="Calibri"/>
                <a:sym typeface="Calibri"/>
              </a:rPr>
              <a:t>Meta</a:t>
            </a:r>
            <a:endParaRPr sz="1100"/>
          </a:p>
        </p:txBody>
      </p:sp>
      <p:sp>
        <p:nvSpPr>
          <p:cNvPr id="207" name="Google Shape;207;p30"/>
          <p:cNvSpPr/>
          <p:nvPr/>
        </p:nvSpPr>
        <p:spPr>
          <a:xfrm>
            <a:off x="240090" y="1268730"/>
            <a:ext cx="1646332" cy="562356"/>
          </a:xfrm>
          <a:prstGeom prst="rect">
            <a:avLst/>
          </a:prstGeom>
          <a:solidFill>
            <a:srgbClr val="0D3A6A"/>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harq_stats</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(MCS, retx,</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HARQ state)</a:t>
            </a:r>
            <a:endParaRPr sz="1100"/>
          </a:p>
        </p:txBody>
      </p:sp>
      <p:sp>
        <p:nvSpPr>
          <p:cNvPr id="208" name="Google Shape;208;p30"/>
          <p:cNvSpPr/>
          <p:nvPr/>
        </p:nvSpPr>
        <p:spPr>
          <a:xfrm>
            <a:off x="240090" y="1885950"/>
            <a:ext cx="1646332" cy="562356"/>
          </a:xfrm>
          <a:prstGeom prst="rect">
            <a:avLst/>
          </a:prstGeom>
          <a:solidFill>
            <a:srgbClr val="0D3A6A"/>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crc_stats</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(SINR, CRC</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success rate)</a:t>
            </a:r>
            <a:endParaRPr sz="1100"/>
          </a:p>
        </p:txBody>
      </p:sp>
      <p:sp>
        <p:nvSpPr>
          <p:cNvPr id="209" name="Google Shape;209;p30"/>
          <p:cNvSpPr/>
          <p:nvPr/>
        </p:nvSpPr>
        <p:spPr>
          <a:xfrm>
            <a:off x="240090" y="2503170"/>
            <a:ext cx="1646332" cy="562356"/>
          </a:xfrm>
          <a:prstGeom prst="rect">
            <a:avLst/>
          </a:prstGeom>
          <a:solidFill>
            <a:srgbClr val="0D3A6A"/>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bsr_stats</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(UE buffer</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occupancy)</a:t>
            </a:r>
            <a:endParaRPr sz="1100"/>
          </a:p>
        </p:txBody>
      </p:sp>
      <p:sp>
        <p:nvSpPr>
          <p:cNvPr id="210" name="Google Shape;210;p30"/>
          <p:cNvSpPr/>
          <p:nvPr/>
        </p:nvSpPr>
        <p:spPr>
          <a:xfrm>
            <a:off x="240090" y="3120390"/>
            <a:ext cx="1646332" cy="562356"/>
          </a:xfrm>
          <a:prstGeom prst="rect">
            <a:avLst/>
          </a:prstGeom>
          <a:solidFill>
            <a:srgbClr val="0D3A6A"/>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uci_stats</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(CQI, SR,</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Timing advance)</a:t>
            </a:r>
            <a:endParaRPr sz="1100"/>
          </a:p>
        </p:txBody>
      </p:sp>
      <p:sp>
        <p:nvSpPr>
          <p:cNvPr id="211" name="Google Shape;211;p30"/>
          <p:cNvSpPr/>
          <p:nvPr/>
        </p:nvSpPr>
        <p:spPr>
          <a:xfrm>
            <a:off x="2160811" y="1268730"/>
            <a:ext cx="1509138" cy="651510"/>
          </a:xfrm>
          <a:prstGeom prst="rect">
            <a:avLst/>
          </a:prstGeom>
          <a:solidFill>
            <a:srgbClr val="05305A"/>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fapi_dl_config</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(DL MCS, PRB,</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TBS per slot)</a:t>
            </a:r>
            <a:endParaRPr sz="1100"/>
          </a:p>
        </p:txBody>
      </p:sp>
      <p:sp>
        <p:nvSpPr>
          <p:cNvPr id="212" name="Google Shape;212;p30"/>
          <p:cNvSpPr/>
          <p:nvPr/>
        </p:nvSpPr>
        <p:spPr>
          <a:xfrm>
            <a:off x="2160811" y="2023110"/>
            <a:ext cx="1509138" cy="651510"/>
          </a:xfrm>
          <a:prstGeom prst="rect">
            <a:avLst/>
          </a:prstGeom>
          <a:solidFill>
            <a:srgbClr val="05305A"/>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fapi_ul_config</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(UL scheduler</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decisions)</a:t>
            </a:r>
            <a:endParaRPr sz="1100"/>
          </a:p>
        </p:txBody>
      </p:sp>
      <p:sp>
        <p:nvSpPr>
          <p:cNvPr id="213" name="Google Shape;213;p30"/>
          <p:cNvSpPr/>
          <p:nvPr/>
        </p:nvSpPr>
        <p:spPr>
          <a:xfrm>
            <a:off x="2160811" y="2777490"/>
            <a:ext cx="1509138" cy="651510"/>
          </a:xfrm>
          <a:prstGeom prst="rect">
            <a:avLst/>
          </a:prstGeom>
          <a:solidFill>
            <a:srgbClr val="05305A"/>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fapi_crc_stats</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(PHY CRC,</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SNR hist)</a:t>
            </a:r>
            <a:endParaRPr sz="1100"/>
          </a:p>
        </p:txBody>
      </p:sp>
      <p:sp>
        <p:nvSpPr>
          <p:cNvPr id="214" name="Google Shape;214;p30"/>
          <p:cNvSpPr/>
          <p:nvPr/>
        </p:nvSpPr>
        <p:spPr>
          <a:xfrm>
            <a:off x="3944337" y="1268730"/>
            <a:ext cx="1509138" cy="822960"/>
          </a:xfrm>
          <a:prstGeom prst="rect">
            <a:avLst/>
          </a:prstGeom>
          <a:solidFill>
            <a:srgbClr val="380760"/>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rlc_ul/dl_stats</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(SDU latency,</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retx bytes)</a:t>
            </a:r>
            <a:endParaRPr sz="1100"/>
          </a:p>
        </p:txBody>
      </p:sp>
      <p:sp>
        <p:nvSpPr>
          <p:cNvPr id="215" name="Google Shape;215;p30"/>
          <p:cNvSpPr/>
          <p:nvPr/>
        </p:nvSpPr>
        <p:spPr>
          <a:xfrm>
            <a:off x="3944337" y="2228850"/>
            <a:ext cx="1509138" cy="822960"/>
          </a:xfrm>
          <a:prstGeom prst="rect">
            <a:avLst/>
          </a:prstGeom>
          <a:solidFill>
            <a:srgbClr val="380760"/>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pdcp_ul/dl_stats</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(per-bearer</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byte counters)</a:t>
            </a:r>
            <a:endParaRPr sz="1100"/>
          </a:p>
        </p:txBody>
      </p:sp>
      <p:sp>
        <p:nvSpPr>
          <p:cNvPr id="216" name="Google Shape;216;p30"/>
          <p:cNvSpPr/>
          <p:nvPr/>
        </p:nvSpPr>
        <p:spPr>
          <a:xfrm>
            <a:off x="5727863" y="1268730"/>
            <a:ext cx="1509138" cy="617220"/>
          </a:xfrm>
          <a:prstGeom prst="rect">
            <a:avLst/>
          </a:prstGeom>
          <a:solidFill>
            <a:srgbClr val="074242"/>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rach_stats</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(per-RACH SNR</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 timing adv.)</a:t>
            </a:r>
            <a:endParaRPr sz="1100"/>
          </a:p>
        </p:txBody>
      </p:sp>
      <p:sp>
        <p:nvSpPr>
          <p:cNvPr id="217" name="Google Shape;217;p30"/>
          <p:cNvSpPr/>
          <p:nvPr/>
        </p:nvSpPr>
        <p:spPr>
          <a:xfrm>
            <a:off x="5727863" y="1988820"/>
            <a:ext cx="1509138" cy="617220"/>
          </a:xfrm>
          <a:prstGeom prst="rect">
            <a:avLst/>
          </a:prstGeom>
          <a:solidFill>
            <a:srgbClr val="074242"/>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rrc_procedure</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(setup, reconfig,</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reestablishment)</a:t>
            </a:r>
            <a:endParaRPr sz="1100"/>
          </a:p>
        </p:txBody>
      </p:sp>
      <p:sp>
        <p:nvSpPr>
          <p:cNvPr id="218" name="Google Shape;218;p30"/>
          <p:cNvSpPr/>
          <p:nvPr/>
        </p:nvSpPr>
        <p:spPr>
          <a:xfrm>
            <a:off x="5727863" y="2708910"/>
            <a:ext cx="1509138" cy="617220"/>
          </a:xfrm>
          <a:prstGeom prst="rect">
            <a:avLst/>
          </a:prstGeom>
          <a:solidFill>
            <a:srgbClr val="074242"/>
          </a:solidFill>
          <a:ln cap="flat" cmpd="sng" w="19050">
            <a:solidFill>
              <a:srgbClr val="CCCCD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ngap_procedure</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(core network</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round-trip)</a:t>
            </a:r>
            <a:endParaRPr sz="1100"/>
          </a:p>
        </p:txBody>
      </p:sp>
      <p:sp>
        <p:nvSpPr>
          <p:cNvPr id="219" name="Google Shape;219;p30"/>
          <p:cNvSpPr/>
          <p:nvPr/>
        </p:nvSpPr>
        <p:spPr>
          <a:xfrm>
            <a:off x="7511389" y="1268730"/>
            <a:ext cx="1371943" cy="1577340"/>
          </a:xfrm>
          <a:prstGeom prst="rect">
            <a:avLst/>
          </a:prstGeom>
          <a:solidFill>
            <a:srgbClr val="5A1010"/>
          </a:solidFill>
          <a:ln cap="flat" cmpd="sng" w="19050">
            <a:solidFill>
              <a:srgbClr val="F0C0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800" u="none" cap="none" strike="noStrike">
                <a:solidFill>
                  <a:srgbClr val="FFFFFF"/>
                </a:solidFill>
                <a:latin typeface="Calibri"/>
                <a:ea typeface="Calibri"/>
                <a:cs typeface="Calibri"/>
                <a:sym typeface="Calibri"/>
              </a:rPr>
              <a:t>jbpf_out_</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perf_list</a:t>
            </a:r>
            <a:br>
              <a:rPr b="0" i="0" lang="en-GB" sz="800" u="none" cap="none" strike="noStrike">
                <a:solidFill>
                  <a:srgbClr val="FFFFFF"/>
                </a:solidFill>
                <a:latin typeface="Calibri"/>
                <a:ea typeface="Calibri"/>
                <a:cs typeface="Calibri"/>
                <a:sym typeface="Calibri"/>
              </a:rPr>
            </a:b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p50/p90/</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p95/p99</a:t>
            </a:r>
            <a:br>
              <a:rPr b="0" i="0" lang="en-GB" sz="800" u="none" cap="none" strike="noStrike">
                <a:solidFill>
                  <a:srgbClr val="FFFFFF"/>
                </a:solidFill>
                <a:latin typeface="Calibri"/>
                <a:ea typeface="Calibri"/>
                <a:cs typeface="Calibri"/>
                <a:sym typeface="Calibri"/>
              </a:rPr>
            </a:br>
            <a:r>
              <a:rPr b="0" i="0" lang="en-GB" sz="800" u="none" cap="none" strike="noStrike">
                <a:solidFill>
                  <a:srgbClr val="FFFFFF"/>
                </a:solidFill>
                <a:latin typeface="Calibri"/>
                <a:ea typeface="Calibri"/>
                <a:cs typeface="Calibri"/>
                <a:sym typeface="Calibri"/>
              </a:rPr>
              <a:t>per hook</a:t>
            </a:r>
            <a:br>
              <a:rPr b="0" i="0" lang="en-GB" sz="800" u="none" cap="none" strike="noStrike">
                <a:solidFill>
                  <a:srgbClr val="FFFFFF"/>
                </a:solidFill>
                <a:latin typeface="Calibri"/>
                <a:ea typeface="Calibri"/>
                <a:cs typeface="Calibri"/>
                <a:sym typeface="Calibri"/>
              </a:rPr>
            </a:br>
            <a:br>
              <a:rPr b="0" i="0" lang="en-GB" sz="800" u="none" cap="none" strike="noStrike">
                <a:solidFill>
                  <a:srgbClr val="FFFFFF"/>
                </a:solidFill>
                <a:latin typeface="Calibri"/>
                <a:ea typeface="Calibri"/>
                <a:cs typeface="Calibri"/>
                <a:sym typeface="Calibri"/>
              </a:rPr>
            </a:br>
            <a:endParaRPr sz="1100"/>
          </a:p>
        </p:txBody>
      </p:sp>
      <p:sp>
        <p:nvSpPr>
          <p:cNvPr id="220" name="Google Shape;220;p30"/>
          <p:cNvSpPr txBox="1"/>
          <p:nvPr/>
        </p:nvSpPr>
        <p:spPr>
          <a:xfrm>
            <a:off x="205791" y="4217670"/>
            <a:ext cx="87117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224" name="Shape 224"/>
        <p:cNvGrpSpPr/>
        <p:nvPr/>
      </p:nvGrpSpPr>
      <p:grpSpPr>
        <a:xfrm>
          <a:off x="0" y="0"/>
          <a:ext cx="0" cy="0"/>
          <a:chOff x="0" y="0"/>
          <a:chExt cx="0" cy="0"/>
        </a:xfrm>
      </p:grpSpPr>
      <p:sp>
        <p:nvSpPr>
          <p:cNvPr id="225" name="Google Shape;225;p31"/>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6" name="Google Shape;226;p31"/>
          <p:cNvSpPr txBox="1"/>
          <p:nvPr/>
        </p:nvSpPr>
        <p:spPr>
          <a:xfrm>
            <a:off x="205791" y="54864"/>
            <a:ext cx="85746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100">
                <a:solidFill>
                  <a:srgbClr val="FFFFFF"/>
                </a:solidFill>
                <a:latin typeface="Calibri"/>
                <a:ea typeface="Calibri"/>
                <a:cs typeface="Calibri"/>
                <a:sym typeface="Calibri"/>
              </a:rPr>
              <a:t>36</a:t>
            </a:r>
            <a:r>
              <a:rPr b="1" i="0" lang="en-GB" sz="2100" u="none" cap="none" strike="noStrike">
                <a:solidFill>
                  <a:srgbClr val="FFFFFF"/>
                </a:solidFill>
                <a:latin typeface="Calibri"/>
                <a:ea typeface="Calibri"/>
                <a:cs typeface="Calibri"/>
                <a:sym typeface="Calibri"/>
              </a:rPr>
              <a:t>-Panel Real-Time Dashboard</a:t>
            </a:r>
            <a:endParaRPr sz="1100"/>
          </a:p>
        </p:txBody>
      </p:sp>
      <p:sp>
        <p:nvSpPr>
          <p:cNvPr id="227" name="Google Shape;227;p31"/>
          <p:cNvSpPr txBox="1"/>
          <p:nvPr/>
        </p:nvSpPr>
        <p:spPr>
          <a:xfrm>
            <a:off x="205791" y="493776"/>
            <a:ext cx="8574645"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GB" sz="1000" u="none" cap="none" strike="noStrike">
                <a:solidFill>
                  <a:srgbClr val="CCCCDD"/>
                </a:solidFill>
                <a:latin typeface="Calibri"/>
                <a:ea typeface="Calibri"/>
                <a:cs typeface="Calibri"/>
                <a:sym typeface="Calibri"/>
              </a:rPr>
              <a:t>Live Grafana dashboard — every metric from every layer in one view</a:t>
            </a:r>
            <a:endParaRPr sz="1100"/>
          </a:p>
        </p:txBody>
      </p:sp>
      <p:sp>
        <p:nvSpPr>
          <p:cNvPr id="228" name="Google Shape;228;p31"/>
          <p:cNvSpPr txBox="1"/>
          <p:nvPr/>
        </p:nvSpPr>
        <p:spPr>
          <a:xfrm>
            <a:off x="274425" y="788675"/>
            <a:ext cx="8574600" cy="34710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lang="en-GB" sz="1700">
                <a:solidFill>
                  <a:srgbClr val="FFFFFF"/>
                </a:solidFill>
                <a:latin typeface="Calibri"/>
                <a:ea typeface="Calibri"/>
                <a:cs typeface="Calibri"/>
                <a:sym typeface="Calibri"/>
              </a:rPr>
              <a:t>Dashboard sections:</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700">
                <a:solidFill>
                  <a:srgbClr val="FFFFFF"/>
                </a:solidFill>
                <a:latin typeface="Calibri"/>
                <a:ea typeface="Calibri"/>
                <a:cs typeface="Calibri"/>
                <a:sym typeface="Calibri"/>
              </a:rPr>
              <a:t>  - Custom SINR Analytics (5 panels) — variance, sliding avg, fill level</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700">
                <a:solidFill>
                  <a:srgbClr val="FFFFFF"/>
                </a:solidFill>
                <a:latin typeface="Calibri"/>
                <a:ea typeface="Calibri"/>
                <a:cs typeface="Calibri"/>
                <a:sym typeface="Calibri"/>
              </a:rPr>
              <a:t>  - PHY / MAC — Radio Link Quality (4 panels) — SINR, TX success, HARQ, RSRP</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700">
                <a:solidFill>
                  <a:srgbClr val="FFFFFF"/>
                </a:solidFill>
                <a:latin typeface="Calibri"/>
                <a:ea typeface="Calibri"/>
                <a:cs typeface="Calibri"/>
                <a:sym typeface="Calibri"/>
              </a:rPr>
              <a:t>  - MAC Scheduler (5 panels) — BSR, CQI, scheduling requests, MCS, retx</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700">
                <a:solidFill>
                  <a:srgbClr val="FFFFFF"/>
                </a:solidFill>
                <a:latin typeface="Calibri"/>
                <a:ea typeface="Calibri"/>
                <a:cs typeface="Calibri"/>
                <a:sym typeface="Calibri"/>
              </a:rPr>
              <a:t>  - FAPI (5 panels) — per-slot MCS/PRB/TBS DL vs UL, SNR, timing advance</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700">
                <a:solidFill>
                  <a:srgbClr val="FFFFFF"/>
                </a:solidFill>
                <a:latin typeface="Calibri"/>
                <a:ea typeface="Calibri"/>
                <a:cs typeface="Calibri"/>
                <a:sym typeface="Calibri"/>
              </a:rPr>
              <a:t>  - RLC / PDCP (6 panels) — DL/UL data volume, retx, SDU latency</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700">
                <a:solidFill>
                  <a:srgbClr val="FFFFFF"/>
                </a:solidFill>
                <a:latin typeface="Calibri"/>
                <a:ea typeface="Calibri"/>
                <a:cs typeface="Calibri"/>
                <a:sym typeface="Calibri"/>
              </a:rPr>
              <a:t>  - RRC / NGAP (2 panels) — control plane event timelines</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700">
                <a:solidFill>
                  <a:srgbClr val="FFFFFF"/>
                </a:solidFill>
                <a:latin typeface="Calibri"/>
                <a:ea typeface="Calibri"/>
                <a:cs typeface="Calibri"/>
                <a:sym typeface="Calibri"/>
              </a:rPr>
              <a:t>  - jBPF hook latency (3 panels) — p50/p99 per hook, invocation count</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700">
                <a:solidFill>
                  <a:srgbClr val="FFFFFF"/>
                </a:solidFill>
                <a:latin typeface="Calibri"/>
                <a:ea typeface="Calibri"/>
                <a:cs typeface="Calibri"/>
                <a:sym typeface="Calibri"/>
              </a:rPr>
              <a:t>  - Summary Statistics (6 panels) — SINR, TX%, HARQ, CQI, p50, BSR</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7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7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700">
              <a:solidFill>
                <a:srgbClr val="FFFFF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screenshot_grafana1.png" id="233" name="Google Shape;233;p32"/>
          <p:cNvPicPr preferRelativeResize="0"/>
          <p:nvPr/>
        </p:nvPicPr>
        <p:blipFill rotWithShape="1">
          <a:blip r:embed="rId3">
            <a:alphaModFix/>
          </a:blip>
          <a:srcRect b="0" l="0" r="0" t="0"/>
          <a:stretch/>
        </p:blipFill>
        <p:spPr>
          <a:xfrm>
            <a:off x="0" y="-158600"/>
            <a:ext cx="9502853" cy="53021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33"/>
          <p:cNvPicPr preferRelativeResize="0"/>
          <p:nvPr/>
        </p:nvPicPr>
        <p:blipFill>
          <a:blip r:embed="rId3">
            <a:alphaModFix/>
          </a:blip>
          <a:stretch>
            <a:fillRect/>
          </a:stretch>
        </p:blipFill>
        <p:spPr>
          <a:xfrm>
            <a:off x="0" y="0"/>
            <a:ext cx="9143997" cy="5143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242" name="Shape 242"/>
        <p:cNvGrpSpPr/>
        <p:nvPr/>
      </p:nvGrpSpPr>
      <p:grpSpPr>
        <a:xfrm>
          <a:off x="0" y="0"/>
          <a:ext cx="0" cy="0"/>
          <a:chOff x="0" y="0"/>
          <a:chExt cx="0" cy="0"/>
        </a:xfrm>
      </p:grpSpPr>
      <p:sp>
        <p:nvSpPr>
          <p:cNvPr id="243" name="Google Shape;243;p34"/>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4" name="Google Shape;244;p34"/>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The Channel Problem — Why a Broker Was Needed</a:t>
            </a:r>
            <a:endParaRPr sz="1100"/>
          </a:p>
        </p:txBody>
      </p:sp>
      <p:sp>
        <p:nvSpPr>
          <p:cNvPr id="245" name="Google Shape;245;p34"/>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246" name="Google Shape;246;p34"/>
          <p:cNvSpPr/>
          <p:nvPr/>
        </p:nvSpPr>
        <p:spPr>
          <a:xfrm>
            <a:off x="205791" y="788670"/>
            <a:ext cx="4184427" cy="1234440"/>
          </a:xfrm>
          <a:prstGeom prst="rect">
            <a:avLst/>
          </a:prstGeom>
          <a:solidFill>
            <a:srgbClr val="2A0A0A"/>
          </a:solidFill>
          <a:ln cap="flat" cmpd="sng" w="19050">
            <a:solidFill>
              <a:srgbClr val="B2222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7" name="Google Shape;247;p34"/>
          <p:cNvSpPr txBox="1"/>
          <p:nvPr/>
        </p:nvSpPr>
        <p:spPr>
          <a:xfrm>
            <a:off x="308687" y="822960"/>
            <a:ext cx="2057915"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B22222"/>
                </a:solidFill>
                <a:latin typeface="Calibri"/>
                <a:ea typeface="Calibri"/>
                <a:cs typeface="Calibri"/>
                <a:sym typeface="Calibri"/>
              </a:rPr>
              <a:t>The Problem</a:t>
            </a:r>
            <a:endParaRPr sz="1100"/>
          </a:p>
        </p:txBody>
      </p:sp>
      <p:sp>
        <p:nvSpPr>
          <p:cNvPr id="248" name="Google Shape;248;p34"/>
          <p:cNvSpPr txBox="1"/>
          <p:nvPr/>
        </p:nvSpPr>
        <p:spPr>
          <a:xfrm>
            <a:off x="274389" y="1062990"/>
            <a:ext cx="40473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  • srsRAN ZMQ transport = perfect wire: SINR constant at 42 dB, zero fading, zero loss</a:t>
            </a:r>
            <a:endParaRPr sz="1100"/>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  • No RF variation → no channel anomalies → nothing to detect</a:t>
            </a:r>
            <a:endParaRPr sz="1100"/>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  • Every dataset would look identical </a:t>
            </a:r>
            <a:endParaRPr sz="1100"/>
          </a:p>
        </p:txBody>
      </p:sp>
      <p:sp>
        <p:nvSpPr>
          <p:cNvPr id="249" name="Google Shape;249;p34"/>
          <p:cNvSpPr/>
          <p:nvPr/>
        </p:nvSpPr>
        <p:spPr>
          <a:xfrm>
            <a:off x="205791" y="2125980"/>
            <a:ext cx="4184427" cy="1062990"/>
          </a:xfrm>
          <a:prstGeom prst="rect">
            <a:avLst/>
          </a:prstGeom>
          <a:solidFill>
            <a:srgbClr val="1A1A0A"/>
          </a:solidFill>
          <a:ln cap="flat" cmpd="sng" w="19050">
            <a:solidFill>
              <a:srgbClr val="E65C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0" name="Google Shape;250;p34"/>
          <p:cNvSpPr txBox="1"/>
          <p:nvPr/>
        </p:nvSpPr>
        <p:spPr>
          <a:xfrm>
            <a:off x="308687" y="2160270"/>
            <a:ext cx="3978635"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E65C00"/>
                </a:solidFill>
                <a:latin typeface="Calibri"/>
                <a:ea typeface="Calibri"/>
                <a:cs typeface="Calibri"/>
                <a:sym typeface="Calibri"/>
              </a:rPr>
              <a:t>Attempt 1: srsUE built-in channel emulator</a:t>
            </a:r>
            <a:endParaRPr sz="1100"/>
          </a:p>
        </p:txBody>
      </p:sp>
      <p:sp>
        <p:nvSpPr>
          <p:cNvPr id="251" name="Google Shape;251;p34"/>
          <p:cNvSpPr txBox="1"/>
          <p:nvPr/>
        </p:nvSpPr>
        <p:spPr>
          <a:xfrm>
            <a:off x="274389" y="2400300"/>
            <a:ext cx="40473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  • srsUE has a --channel.model flag (AWGN, EPA, EVA, ETU)</a:t>
            </a:r>
            <a:endParaRPr sz="1100"/>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  • Problem: it is wired to the LTE PHY path only</a:t>
            </a:r>
            <a:r>
              <a:rPr lang="en-GB" sz="900">
                <a:solidFill>
                  <a:srgbClr val="FFFFFF"/>
                </a:solidFill>
                <a:latin typeface="Calibri"/>
                <a:ea typeface="Calibri"/>
                <a:cs typeface="Calibri"/>
                <a:sym typeface="Calibri"/>
              </a:rPr>
              <a:t>, </a:t>
            </a:r>
            <a:r>
              <a:rPr b="0" i="0" lang="en-GB" sz="900" u="none" cap="none" strike="noStrike">
                <a:solidFill>
                  <a:srgbClr val="FFFFFF"/>
                </a:solidFill>
                <a:latin typeface="Calibri"/>
                <a:ea typeface="Calibri"/>
                <a:cs typeface="Calibri"/>
                <a:sym typeface="Calibri"/>
              </a:rPr>
              <a:t>silently ignored in NR mode</a:t>
            </a:r>
            <a:endParaRPr sz="1100"/>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  • Confirmed by reading source: NR PHY never calls the channel emulator</a:t>
            </a:r>
            <a:endParaRPr sz="1100"/>
          </a:p>
        </p:txBody>
      </p:sp>
      <p:sp>
        <p:nvSpPr>
          <p:cNvPr id="252" name="Google Shape;252;p34"/>
          <p:cNvSpPr/>
          <p:nvPr/>
        </p:nvSpPr>
        <p:spPr>
          <a:xfrm>
            <a:off x="205791" y="3257550"/>
            <a:ext cx="4184427" cy="1303020"/>
          </a:xfrm>
          <a:prstGeom prst="rect">
            <a:avLst/>
          </a:prstGeom>
          <a:solidFill>
            <a:srgbClr val="0A1A0A"/>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3" name="Google Shape;253;p34"/>
          <p:cNvSpPr txBox="1"/>
          <p:nvPr/>
        </p:nvSpPr>
        <p:spPr>
          <a:xfrm>
            <a:off x="308687" y="3291840"/>
            <a:ext cx="3978635"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2E8B57"/>
                </a:solidFill>
                <a:latin typeface="Calibri"/>
                <a:ea typeface="Calibri"/>
                <a:cs typeface="Calibri"/>
                <a:sym typeface="Calibri"/>
              </a:rPr>
              <a:t>Solution: ZMQ IQ-level Broker</a:t>
            </a:r>
            <a:endParaRPr sz="1100"/>
          </a:p>
        </p:txBody>
      </p:sp>
      <p:sp>
        <p:nvSpPr>
          <p:cNvPr id="254" name="Google Shape;254;p34"/>
          <p:cNvSpPr txBox="1"/>
          <p:nvPr/>
        </p:nvSpPr>
        <p:spPr>
          <a:xfrm>
            <a:off x="274389" y="3531870"/>
            <a:ext cx="4047300" cy="8082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SzPts val="1100"/>
              <a:buNone/>
            </a:pPr>
            <a:r>
              <a:rPr lang="en-GB" sz="800">
                <a:solidFill>
                  <a:schemeClr val="lt1"/>
                </a:solidFill>
                <a:latin typeface="Calibri"/>
                <a:ea typeface="Calibri"/>
                <a:cs typeface="Calibri"/>
                <a:sym typeface="Calibri"/>
              </a:rPr>
              <a:t>- Sits between the gNB and the UE — intercepts the radio signal without touching srsRAN's code     </a:t>
            </a:r>
            <a:endParaRPr sz="800">
              <a:solidFill>
                <a:schemeClr val="lt1"/>
              </a:solidFill>
              <a:latin typeface="Calibri"/>
              <a:ea typeface="Calibri"/>
              <a:cs typeface="Calibri"/>
              <a:sym typeface="Calibri"/>
            </a:endParaRPr>
          </a:p>
          <a:p>
            <a:pPr indent="0" lvl="0" marL="0" rtl="0" algn="l">
              <a:spcBef>
                <a:spcPts val="0"/>
              </a:spcBef>
              <a:spcAft>
                <a:spcPts val="0"/>
              </a:spcAft>
              <a:buSzPts val="1100"/>
              <a:buNone/>
            </a:pPr>
            <a:r>
              <a:rPr lang="en-GB" sz="800">
                <a:solidFill>
                  <a:schemeClr val="lt1"/>
                </a:solidFill>
                <a:latin typeface="Calibri"/>
                <a:ea typeface="Calibri"/>
                <a:cs typeface="Calibri"/>
                <a:sym typeface="Calibri"/>
              </a:rPr>
              <a:t>  - Injects noise and fading to simulate a real-world wireless channel                               </a:t>
            </a:r>
            <a:endParaRPr sz="800">
              <a:solidFill>
                <a:schemeClr val="lt1"/>
              </a:solidFill>
              <a:latin typeface="Calibri"/>
              <a:ea typeface="Calibri"/>
              <a:cs typeface="Calibri"/>
              <a:sym typeface="Calibri"/>
            </a:endParaRPr>
          </a:p>
          <a:p>
            <a:pPr indent="0" lvl="0" marL="0" rtl="0" algn="l">
              <a:spcBef>
                <a:spcPts val="0"/>
              </a:spcBef>
              <a:spcAft>
                <a:spcPts val="0"/>
              </a:spcAft>
              <a:buSzPts val="1100"/>
              <a:buNone/>
            </a:pPr>
            <a:r>
              <a:rPr lang="en-GB" sz="800">
                <a:solidFill>
                  <a:schemeClr val="lt1"/>
                </a:solidFill>
                <a:latin typeface="Calibri"/>
                <a:ea typeface="Calibri"/>
                <a:cs typeface="Calibri"/>
                <a:sym typeface="Calibri"/>
              </a:rPr>
              <a:t>  - Launched via the pipeline script with configurable channel settings (SNR, fading type, Doppler)</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800">
              <a:solidFill>
                <a:schemeClr val="lt1"/>
              </a:solidFill>
              <a:latin typeface="Calibri"/>
              <a:ea typeface="Calibri"/>
              <a:cs typeface="Calibri"/>
              <a:sym typeface="Calibri"/>
            </a:endParaRPr>
          </a:p>
        </p:txBody>
      </p:sp>
      <p:pic>
        <p:nvPicPr>
          <p:cNvPr descr="fig_channel_broker.png" id="255" name="Google Shape;255;p34"/>
          <p:cNvPicPr preferRelativeResize="0"/>
          <p:nvPr/>
        </p:nvPicPr>
        <p:blipFill rotWithShape="1">
          <a:blip r:embed="rId3">
            <a:alphaModFix/>
          </a:blip>
          <a:srcRect b="0" l="0" r="0" t="0"/>
          <a:stretch/>
        </p:blipFill>
        <p:spPr>
          <a:xfrm>
            <a:off x="4527413" y="788670"/>
            <a:ext cx="4458815" cy="3771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259" name="Shape 259"/>
        <p:cNvGrpSpPr/>
        <p:nvPr/>
      </p:nvGrpSpPr>
      <p:grpSpPr>
        <a:xfrm>
          <a:off x="0" y="0"/>
          <a:ext cx="0" cy="0"/>
          <a:chOff x="0" y="0"/>
          <a:chExt cx="0" cy="0"/>
        </a:xfrm>
      </p:grpSpPr>
      <p:sp>
        <p:nvSpPr>
          <p:cNvPr id="260" name="Google Shape;260;p35"/>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1" name="Google Shape;261;p35"/>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From C Broker to GNU Radio — Adding Realism</a:t>
            </a:r>
            <a:endParaRPr sz="1100"/>
          </a:p>
        </p:txBody>
      </p:sp>
      <p:sp>
        <p:nvSpPr>
          <p:cNvPr id="262" name="Google Shape;262;p35"/>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263" name="Google Shape;263;p35"/>
          <p:cNvSpPr/>
          <p:nvPr/>
        </p:nvSpPr>
        <p:spPr>
          <a:xfrm>
            <a:off x="205800" y="788673"/>
            <a:ext cx="4047300" cy="1036200"/>
          </a:xfrm>
          <a:prstGeom prst="rect">
            <a:avLst/>
          </a:prstGeom>
          <a:solidFill>
            <a:srgbClr val="2A0A0A"/>
          </a:solidFill>
          <a:ln cap="flat" cmpd="sng" w="19050">
            <a:solidFill>
              <a:srgbClr val="B2222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4" name="Google Shape;264;p35"/>
          <p:cNvSpPr txBox="1"/>
          <p:nvPr/>
        </p:nvSpPr>
        <p:spPr>
          <a:xfrm>
            <a:off x="308687" y="822960"/>
            <a:ext cx="3841441"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B22222"/>
                </a:solidFill>
                <a:latin typeface="Calibri"/>
                <a:ea typeface="Calibri"/>
                <a:cs typeface="Calibri"/>
                <a:sym typeface="Calibri"/>
              </a:rPr>
              <a:t>C Broker Limitation: Flat Fading</a:t>
            </a:r>
            <a:endParaRPr sz="1100"/>
          </a:p>
        </p:txBody>
      </p:sp>
      <p:sp>
        <p:nvSpPr>
          <p:cNvPr id="265" name="Google Shape;265;p35"/>
          <p:cNvSpPr txBox="1"/>
          <p:nvPr/>
        </p:nvSpPr>
        <p:spPr>
          <a:xfrm>
            <a:off x="274389" y="1062990"/>
            <a:ext cx="3909900" cy="7620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Flat fading fades all frequencies equally , which unrealistic for real 5G</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 Real channels fade differently across frequencies due to multipath reflections</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- 3GPP defines standard profiles (EPA, EVA, ETU) to model this properly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 The C broker could not replicate this — a more advanced solution was needed   </a:t>
            </a:r>
            <a:endParaRPr sz="9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900">
              <a:solidFill>
                <a:srgbClr val="FFFFFF"/>
              </a:solidFill>
              <a:latin typeface="Calibri"/>
              <a:ea typeface="Calibri"/>
              <a:cs typeface="Calibri"/>
              <a:sym typeface="Calibri"/>
            </a:endParaRPr>
          </a:p>
        </p:txBody>
      </p:sp>
      <p:sp>
        <p:nvSpPr>
          <p:cNvPr id="266" name="Google Shape;266;p35"/>
          <p:cNvSpPr/>
          <p:nvPr/>
        </p:nvSpPr>
        <p:spPr>
          <a:xfrm>
            <a:off x="205800" y="1834823"/>
            <a:ext cx="4047300" cy="2760000"/>
          </a:xfrm>
          <a:prstGeom prst="rect">
            <a:avLst/>
          </a:prstGeom>
          <a:solidFill>
            <a:srgbClr val="0A1A0A"/>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7" name="Google Shape;267;p35"/>
          <p:cNvSpPr txBox="1"/>
          <p:nvPr/>
        </p:nvSpPr>
        <p:spPr>
          <a:xfrm>
            <a:off x="308675" y="1834814"/>
            <a:ext cx="38415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2E8B57"/>
                </a:solidFill>
                <a:latin typeface="Calibri"/>
                <a:ea typeface="Calibri"/>
                <a:cs typeface="Calibri"/>
                <a:sym typeface="Calibri"/>
              </a:rPr>
              <a:t>GRC Python Broker</a:t>
            </a:r>
            <a:r>
              <a:rPr b="1" lang="en-GB" sz="1000">
                <a:solidFill>
                  <a:srgbClr val="2E8B57"/>
                </a:solidFill>
                <a:latin typeface="Calibri"/>
                <a:ea typeface="Calibri"/>
                <a:cs typeface="Calibri"/>
                <a:sym typeface="Calibri"/>
              </a:rPr>
              <a:t>, b</a:t>
            </a:r>
            <a:r>
              <a:rPr b="1" i="0" lang="en-GB" sz="1000" u="none" cap="none" strike="noStrike">
                <a:solidFill>
                  <a:srgbClr val="2E8B57"/>
                </a:solidFill>
                <a:latin typeface="Calibri"/>
                <a:ea typeface="Calibri"/>
                <a:cs typeface="Calibri"/>
                <a:sym typeface="Calibri"/>
              </a:rPr>
              <a:t>uilt on GNU Radio</a:t>
            </a:r>
            <a:endParaRPr sz="1100"/>
          </a:p>
        </p:txBody>
      </p:sp>
      <p:sp>
        <p:nvSpPr>
          <p:cNvPr id="268" name="Google Shape;268;p35"/>
          <p:cNvSpPr txBox="1"/>
          <p:nvPr/>
        </p:nvSpPr>
        <p:spPr>
          <a:xfrm>
            <a:off x="274400" y="2058026"/>
            <a:ext cx="3909900" cy="22857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Applies EPA / EVA / ETU frequency-selective fading,  each frequency band fades independently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 Adds carrier frequency offset, burst packet drops, and narrowband interference</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 Includes 10 pre-built time-varying channel scenarios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 Live visual display showing the signal spectrum and IQ constellation in real time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 Fast enough to process each 1 ms radio slot without causing delays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 Prototyped visually in GNU Radio Companion by connecting signal processing blocks</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 The generated Python code was then extended with: ZMQ socket interception, persistent FIR filter  state across slots, time-varying scenario engine, burst drop logic, narrowband interference injection, and command-line configuration,  none of which GNU Radio Companion can generate on its own.</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a:t>
            </a:r>
            <a:endParaRPr sz="9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900">
              <a:solidFill>
                <a:srgbClr val="FFFFFF"/>
              </a:solidFill>
              <a:latin typeface="Calibri"/>
              <a:ea typeface="Calibri"/>
              <a:cs typeface="Calibri"/>
              <a:sym typeface="Calibri"/>
            </a:endParaRPr>
          </a:p>
        </p:txBody>
      </p:sp>
      <p:sp>
        <p:nvSpPr>
          <p:cNvPr id="269" name="Google Shape;269;p35"/>
          <p:cNvSpPr txBox="1"/>
          <p:nvPr/>
        </p:nvSpPr>
        <p:spPr>
          <a:xfrm>
            <a:off x="4458815" y="788670"/>
            <a:ext cx="459601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2E8B57"/>
                </a:solidFill>
                <a:latin typeface="Calibri"/>
                <a:ea typeface="Calibri"/>
                <a:cs typeface="Calibri"/>
                <a:sym typeface="Calibri"/>
              </a:rPr>
              <a:t>Live GRC Broker GUI</a:t>
            </a:r>
            <a:endParaRPr sz="1100"/>
          </a:p>
        </p:txBody>
      </p:sp>
      <p:pic>
        <p:nvPicPr>
          <p:cNvPr descr="screenshot_grc.png" id="270" name="Google Shape;270;p35"/>
          <p:cNvPicPr preferRelativeResize="0"/>
          <p:nvPr/>
        </p:nvPicPr>
        <p:blipFill rotWithShape="1">
          <a:blip r:embed="rId3">
            <a:alphaModFix/>
          </a:blip>
          <a:srcRect b="0" l="0" r="0" t="0"/>
          <a:stretch/>
        </p:blipFill>
        <p:spPr>
          <a:xfrm>
            <a:off x="4458815" y="1062990"/>
            <a:ext cx="4596010" cy="34975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274" name="Shape 274"/>
        <p:cNvGrpSpPr/>
        <p:nvPr/>
      </p:nvGrpSpPr>
      <p:grpSpPr>
        <a:xfrm>
          <a:off x="0" y="0"/>
          <a:ext cx="0" cy="0"/>
          <a:chOff x="0" y="0"/>
          <a:chExt cx="0" cy="0"/>
        </a:xfrm>
      </p:grpSpPr>
      <p:sp>
        <p:nvSpPr>
          <p:cNvPr id="275" name="Google Shape;275;p36"/>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6" name="Google Shape;276;p36"/>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jBPF vs Standard Metrics — What Were We Trying to Prove?</a:t>
            </a:r>
            <a:endParaRPr sz="1100"/>
          </a:p>
        </p:txBody>
      </p:sp>
      <p:sp>
        <p:nvSpPr>
          <p:cNvPr id="277" name="Google Shape;277;p36"/>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278" name="Google Shape;278;p36"/>
          <p:cNvSpPr/>
          <p:nvPr/>
        </p:nvSpPr>
        <p:spPr>
          <a:xfrm>
            <a:off x="274389" y="788670"/>
            <a:ext cx="3978635" cy="1028700"/>
          </a:xfrm>
          <a:prstGeom prst="rect">
            <a:avLst/>
          </a:prstGeom>
          <a:solidFill>
            <a:srgbClr val="0A2040"/>
          </a:solidFill>
          <a:ln cap="flat" cmpd="sng" w="19050">
            <a:solidFill>
              <a:srgbClr val="1A6FA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9" name="Google Shape;279;p36"/>
          <p:cNvSpPr txBox="1"/>
          <p:nvPr/>
        </p:nvSpPr>
        <p:spPr>
          <a:xfrm>
            <a:off x="342986" y="822960"/>
            <a:ext cx="384144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A6FAF"/>
                </a:solidFill>
                <a:latin typeface="Calibri"/>
                <a:ea typeface="Calibri"/>
                <a:cs typeface="Calibri"/>
                <a:sym typeface="Calibri"/>
              </a:rPr>
              <a:t>The Setup</a:t>
            </a:r>
            <a:endParaRPr sz="1100"/>
          </a:p>
        </p:txBody>
      </p:sp>
      <p:sp>
        <p:nvSpPr>
          <p:cNvPr id="280" name="Google Shape;280;p36"/>
          <p:cNvSpPr txBox="1"/>
          <p:nvPr/>
        </p:nvSpPr>
        <p:spPr>
          <a:xfrm>
            <a:off x="342975" y="984475"/>
            <a:ext cx="3978600" cy="8850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lang="en-GB" sz="600">
                <a:solidFill>
                  <a:srgbClr val="CCCCDD"/>
                </a:solidFill>
                <a:latin typeface="Calibri"/>
                <a:ea typeface="Calibri"/>
                <a:cs typeface="Calibri"/>
                <a:sym typeface="Calibri"/>
              </a:rPr>
              <a:t>The srsRAN gNB exposes metrics through two separate channels.  I  ran both simultaneously for 57    </a:t>
            </a:r>
            <a:endParaRPr sz="600">
              <a:solidFill>
                <a:srgbClr val="CCCCD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600">
                <a:solidFill>
                  <a:srgbClr val="CCCCDD"/>
                </a:solidFill>
                <a:latin typeface="Calibri"/>
                <a:ea typeface="Calibri"/>
                <a:cs typeface="Calibri"/>
                <a:sym typeface="Calibri"/>
              </a:rPr>
              <a:t>  minutes to compare them:</a:t>
            </a:r>
            <a:endParaRPr sz="600">
              <a:solidFill>
                <a:srgbClr val="CCCCD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600">
                <a:solidFill>
                  <a:srgbClr val="CCCCDD"/>
                </a:solidFill>
                <a:latin typeface="Calibri"/>
                <a:ea typeface="Calibri"/>
                <a:cs typeface="Calibri"/>
                <a:sym typeface="Calibri"/>
              </a:rPr>
              <a:t> - jBPF codelets, the custom instrumentation, injected directly into the gNB internals, capturing  </a:t>
            </a:r>
            <a:endParaRPr sz="600">
              <a:solidFill>
                <a:srgbClr val="CCCCD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600">
                <a:solidFill>
                  <a:srgbClr val="CCCCDD"/>
                </a:solidFill>
                <a:latin typeface="Calibri"/>
                <a:ea typeface="Calibri"/>
                <a:cs typeface="Calibri"/>
                <a:sym typeface="Calibri"/>
              </a:rPr>
              <a:t>  per-event telemetry across all stack layers. Data flows into InfluxDB 1.x</a:t>
            </a:r>
            <a:endParaRPr sz="600">
              <a:solidFill>
                <a:srgbClr val="CCCCD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600">
                <a:solidFill>
                  <a:srgbClr val="CCCCDD"/>
                </a:solidFill>
                <a:latin typeface="Calibri"/>
                <a:ea typeface="Calibri"/>
                <a:cs typeface="Calibri"/>
                <a:sym typeface="Calibri"/>
              </a:rPr>
              <a:t>  - Standard metrics , the gNB's built-in monitoring, a simple WebSocket feed that reports           </a:t>
            </a:r>
            <a:endParaRPr sz="600">
              <a:solidFill>
                <a:srgbClr val="CCCCD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600">
                <a:solidFill>
                  <a:srgbClr val="CCCCDD"/>
                </a:solidFill>
                <a:latin typeface="Calibri"/>
                <a:ea typeface="Calibri"/>
                <a:cs typeface="Calibri"/>
                <a:sym typeface="Calibri"/>
              </a:rPr>
              <a:t>  pre-aggregated radio statistics roughly once per second. Data flows into InfluxDB 3                </a:t>
            </a:r>
            <a:endParaRPr sz="600">
              <a:solidFill>
                <a:srgbClr val="CCCCD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600">
                <a:solidFill>
                  <a:srgbClr val="CCCCDD"/>
                </a:solidFill>
                <a:latin typeface="Calibri"/>
                <a:ea typeface="Calibri"/>
                <a:cs typeface="Calibri"/>
                <a:sym typeface="Calibri"/>
              </a:rPr>
              <a:t>    Both databases were recording the same gNB, the same traffic, and the same Rician fading channel   </a:t>
            </a:r>
            <a:endParaRPr sz="600">
              <a:solidFill>
                <a:srgbClr val="CCCCD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600">
                <a:solidFill>
                  <a:srgbClr val="CCCCDD"/>
                </a:solidFill>
                <a:latin typeface="Calibri"/>
                <a:ea typeface="Calibri"/>
                <a:cs typeface="Calibri"/>
                <a:sym typeface="Calibri"/>
              </a:rPr>
              <a:t>  for the entire 57 minutes.</a:t>
            </a:r>
            <a:endParaRPr sz="600">
              <a:solidFill>
                <a:srgbClr val="CCCCDD"/>
              </a:solidFill>
              <a:latin typeface="Calibri"/>
              <a:ea typeface="Calibri"/>
              <a:cs typeface="Calibri"/>
              <a:sym typeface="Calibri"/>
            </a:endParaRPr>
          </a:p>
          <a:p>
            <a:pPr indent="0" lvl="0" marL="0" marR="0" rtl="0" algn="l">
              <a:spcBef>
                <a:spcPts val="0"/>
              </a:spcBef>
              <a:spcAft>
                <a:spcPts val="0"/>
              </a:spcAft>
              <a:buNone/>
            </a:pPr>
            <a:r>
              <a:t/>
            </a:r>
            <a:endParaRPr sz="500">
              <a:solidFill>
                <a:srgbClr val="CCCCDD"/>
              </a:solidFill>
              <a:latin typeface="Calibri"/>
              <a:ea typeface="Calibri"/>
              <a:cs typeface="Calibri"/>
              <a:sym typeface="Calibri"/>
            </a:endParaRPr>
          </a:p>
        </p:txBody>
      </p:sp>
      <p:sp>
        <p:nvSpPr>
          <p:cNvPr id="281" name="Google Shape;281;p36"/>
          <p:cNvSpPr/>
          <p:nvPr/>
        </p:nvSpPr>
        <p:spPr>
          <a:xfrm>
            <a:off x="4458815" y="788670"/>
            <a:ext cx="4527413" cy="1028700"/>
          </a:xfrm>
          <a:prstGeom prst="rect">
            <a:avLst/>
          </a:prstGeom>
          <a:solidFill>
            <a:srgbClr val="0A2020"/>
          </a:solidFill>
          <a:ln cap="flat" cmpd="sng" w="19050">
            <a:solidFill>
              <a:srgbClr val="1A8C8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2" name="Google Shape;282;p36"/>
          <p:cNvSpPr txBox="1"/>
          <p:nvPr/>
        </p:nvSpPr>
        <p:spPr>
          <a:xfrm>
            <a:off x="4527413" y="822960"/>
            <a:ext cx="4390218"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A8C8C"/>
                </a:solidFill>
                <a:latin typeface="Calibri"/>
                <a:ea typeface="Calibri"/>
                <a:cs typeface="Calibri"/>
                <a:sym typeface="Calibri"/>
              </a:rPr>
              <a:t>Three Questions</a:t>
            </a:r>
            <a:endParaRPr sz="1100"/>
          </a:p>
        </p:txBody>
      </p:sp>
      <p:sp>
        <p:nvSpPr>
          <p:cNvPr id="283" name="Google Shape;283;p36"/>
          <p:cNvSpPr txBox="1"/>
          <p:nvPr/>
        </p:nvSpPr>
        <p:spPr>
          <a:xfrm>
            <a:off x="4527413" y="1097280"/>
            <a:ext cx="4321621" cy="6515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CCCCDD"/>
                </a:solidFill>
                <a:latin typeface="Calibri"/>
                <a:ea typeface="Calibri"/>
                <a:cs typeface="Calibri"/>
                <a:sym typeface="Calibri"/>
              </a:rPr>
              <a:t>1.  Do both systems agree where they measure the same thing?</a:t>
            </a:r>
            <a:br>
              <a:rPr b="0" i="0" lang="en-GB" sz="900" u="none" cap="none" strike="noStrike">
                <a:solidFill>
                  <a:srgbClr val="CCCCDD"/>
                </a:solidFill>
                <a:latin typeface="Calibri"/>
                <a:ea typeface="Calibri"/>
                <a:cs typeface="Calibri"/>
                <a:sym typeface="Calibri"/>
              </a:rPr>
            </a:br>
            <a:r>
              <a:rPr b="0" i="0" lang="en-GB" sz="900" u="none" cap="none" strike="noStrike">
                <a:solidFill>
                  <a:srgbClr val="CCCCDD"/>
                </a:solidFill>
                <a:latin typeface="Calibri"/>
                <a:ea typeface="Calibri"/>
                <a:cs typeface="Calibri"/>
                <a:sym typeface="Calibri"/>
              </a:rPr>
              <a:t>2.  Why do the numbers differ even for the same metric?</a:t>
            </a:r>
            <a:br>
              <a:rPr b="0" i="0" lang="en-GB" sz="900" u="none" cap="none" strike="noStrike">
                <a:solidFill>
                  <a:srgbClr val="CCCCDD"/>
                </a:solidFill>
                <a:latin typeface="Calibri"/>
                <a:ea typeface="Calibri"/>
                <a:cs typeface="Calibri"/>
                <a:sym typeface="Calibri"/>
              </a:rPr>
            </a:br>
            <a:r>
              <a:rPr b="0" i="0" lang="en-GB" sz="900" u="none" cap="none" strike="noStrike">
                <a:solidFill>
                  <a:srgbClr val="CCCCDD"/>
                </a:solidFill>
                <a:latin typeface="Calibri"/>
                <a:ea typeface="Calibri"/>
                <a:cs typeface="Calibri"/>
                <a:sym typeface="Calibri"/>
              </a:rPr>
              <a:t>3.  What can jBPF see that standard metrics simply cannot?</a:t>
            </a:r>
            <a:endParaRPr sz="1100"/>
          </a:p>
        </p:txBody>
      </p:sp>
      <p:sp>
        <p:nvSpPr>
          <p:cNvPr id="284" name="Google Shape;284;p36"/>
          <p:cNvSpPr/>
          <p:nvPr/>
        </p:nvSpPr>
        <p:spPr>
          <a:xfrm>
            <a:off x="274389" y="1954530"/>
            <a:ext cx="2812483" cy="2400300"/>
          </a:xfrm>
          <a:prstGeom prst="rect">
            <a:avLst/>
          </a:prstGeom>
          <a:solidFill>
            <a:srgbClr val="08081E"/>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5" name="Google Shape;285;p36"/>
          <p:cNvSpPr/>
          <p:nvPr/>
        </p:nvSpPr>
        <p:spPr>
          <a:xfrm>
            <a:off x="274389" y="1954530"/>
            <a:ext cx="2812483" cy="308610"/>
          </a:xfrm>
          <a:prstGeom prst="rect">
            <a:avLst/>
          </a:prstGeom>
          <a:solidFill>
            <a:srgbClr val="2E8B57"/>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6" name="Google Shape;286;p36"/>
          <p:cNvSpPr txBox="1"/>
          <p:nvPr/>
        </p:nvSpPr>
        <p:spPr>
          <a:xfrm>
            <a:off x="342986" y="1975104"/>
            <a:ext cx="2675289"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Finding 1 — They Agree</a:t>
            </a:r>
            <a:endParaRPr sz="1100"/>
          </a:p>
        </p:txBody>
      </p:sp>
      <p:sp>
        <p:nvSpPr>
          <p:cNvPr id="287" name="Google Shape;287;p36"/>
          <p:cNvSpPr txBox="1"/>
          <p:nvPr/>
        </p:nvSpPr>
        <p:spPr>
          <a:xfrm>
            <a:off x="342986" y="2318004"/>
            <a:ext cx="2675289" cy="19545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CCCCDD"/>
                </a:solidFill>
                <a:latin typeface="Calibri"/>
                <a:ea typeface="Calibri"/>
                <a:cs typeface="Calibri"/>
                <a:sym typeface="Calibri"/>
              </a:rPr>
              <a:t>Where both measure the same signal (SINR, MCS, CQI, BLER), values match within 1.5%. The codelets are extracting correct data.</a:t>
            </a:r>
            <a:endParaRPr sz="1100"/>
          </a:p>
        </p:txBody>
      </p:sp>
      <p:sp>
        <p:nvSpPr>
          <p:cNvPr id="288" name="Google Shape;288;p36"/>
          <p:cNvSpPr/>
          <p:nvPr/>
        </p:nvSpPr>
        <p:spPr>
          <a:xfrm>
            <a:off x="3258365" y="1954530"/>
            <a:ext cx="2812483" cy="2400300"/>
          </a:xfrm>
          <a:prstGeom prst="rect">
            <a:avLst/>
          </a:prstGeom>
          <a:solidFill>
            <a:srgbClr val="08081E"/>
          </a:solidFill>
          <a:ln cap="flat" cmpd="sng" w="19050">
            <a:solidFill>
              <a:srgbClr val="F0C0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9" name="Google Shape;289;p36"/>
          <p:cNvSpPr/>
          <p:nvPr/>
        </p:nvSpPr>
        <p:spPr>
          <a:xfrm>
            <a:off x="3258365" y="1954530"/>
            <a:ext cx="2812483" cy="308610"/>
          </a:xfrm>
          <a:prstGeom prst="rect">
            <a:avLst/>
          </a:prstGeom>
          <a:solidFill>
            <a:srgbClr val="F0C060"/>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0" name="Google Shape;290;p36"/>
          <p:cNvSpPr txBox="1"/>
          <p:nvPr/>
        </p:nvSpPr>
        <p:spPr>
          <a:xfrm>
            <a:off x="3326962" y="1975104"/>
            <a:ext cx="2675289"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Finding 2 — Differences Are Expected</a:t>
            </a:r>
            <a:endParaRPr sz="1100"/>
          </a:p>
        </p:txBody>
      </p:sp>
      <p:sp>
        <p:nvSpPr>
          <p:cNvPr id="291" name="Google Shape;291;p36"/>
          <p:cNvSpPr txBox="1"/>
          <p:nvPr/>
        </p:nvSpPr>
        <p:spPr>
          <a:xfrm>
            <a:off x="3326962" y="2318004"/>
            <a:ext cx="26754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CCCCDD"/>
                </a:solidFill>
                <a:latin typeface="Calibri"/>
                <a:ea typeface="Calibri"/>
                <a:cs typeface="Calibri"/>
                <a:sym typeface="Calibri"/>
              </a:rPr>
              <a:t>Throughput shows a 1.95× gap because jBPF measures at the application layer while standard metrics measure at the MAC layer </a:t>
            </a:r>
            <a:r>
              <a:rPr lang="en-GB" sz="900">
                <a:solidFill>
                  <a:srgbClr val="CCCCDD"/>
                </a:solidFill>
                <a:latin typeface="Calibri"/>
                <a:ea typeface="Calibri"/>
                <a:cs typeface="Calibri"/>
                <a:sym typeface="Calibri"/>
              </a:rPr>
              <a:t>, </a:t>
            </a:r>
            <a:r>
              <a:rPr b="0" i="0" lang="en-GB" sz="900" u="none" cap="none" strike="noStrike">
                <a:solidFill>
                  <a:srgbClr val="CCCCDD"/>
                </a:solidFill>
                <a:latin typeface="Calibri"/>
                <a:ea typeface="Calibri"/>
                <a:cs typeface="Calibri"/>
                <a:sym typeface="Calibri"/>
              </a:rPr>
              <a:t>two valid measurements of different things.</a:t>
            </a:r>
            <a:endParaRPr sz="1100"/>
          </a:p>
        </p:txBody>
      </p:sp>
      <p:sp>
        <p:nvSpPr>
          <p:cNvPr id="292" name="Google Shape;292;p36"/>
          <p:cNvSpPr/>
          <p:nvPr/>
        </p:nvSpPr>
        <p:spPr>
          <a:xfrm>
            <a:off x="6242342" y="1954530"/>
            <a:ext cx="2812483" cy="2400300"/>
          </a:xfrm>
          <a:prstGeom prst="rect">
            <a:avLst/>
          </a:prstGeom>
          <a:solidFill>
            <a:srgbClr val="08081E"/>
          </a:solidFill>
          <a:ln cap="flat" cmpd="sng" w="19050">
            <a:solidFill>
              <a:srgbClr val="B2222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3" name="Google Shape;293;p36"/>
          <p:cNvSpPr/>
          <p:nvPr/>
        </p:nvSpPr>
        <p:spPr>
          <a:xfrm>
            <a:off x="6242342" y="1954530"/>
            <a:ext cx="2812483" cy="308610"/>
          </a:xfrm>
          <a:prstGeom prst="rect">
            <a:avLst/>
          </a:prstGeom>
          <a:solidFill>
            <a:srgbClr val="B2222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4" name="Google Shape;294;p36"/>
          <p:cNvSpPr txBox="1"/>
          <p:nvPr/>
        </p:nvSpPr>
        <p:spPr>
          <a:xfrm>
            <a:off x="6310939" y="1975104"/>
            <a:ext cx="2675289"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Finding 3 — jBPF Sees What Standard Cannot</a:t>
            </a:r>
            <a:endParaRPr sz="1100"/>
          </a:p>
        </p:txBody>
      </p:sp>
      <p:sp>
        <p:nvSpPr>
          <p:cNvPr id="295" name="Google Shape;295;p36"/>
          <p:cNvSpPr txBox="1"/>
          <p:nvPr/>
        </p:nvSpPr>
        <p:spPr>
          <a:xfrm>
            <a:off x="6310939" y="2318004"/>
            <a:ext cx="26754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CCCCDD"/>
                </a:solidFill>
                <a:latin typeface="Calibri"/>
                <a:ea typeface="Calibri"/>
                <a:cs typeface="Calibri"/>
                <a:sym typeface="Calibri"/>
              </a:rPr>
              <a:t>Hook latency, per-slot FAPI data, RLC/PDCP counters, RRC/NGAP procedure timing</a:t>
            </a:r>
            <a:r>
              <a:rPr lang="en-GB" sz="900">
                <a:solidFill>
                  <a:srgbClr val="CCCCDD"/>
                </a:solidFill>
                <a:latin typeface="Calibri"/>
                <a:ea typeface="Calibri"/>
                <a:cs typeface="Calibri"/>
                <a:sym typeface="Calibri"/>
              </a:rPr>
              <a:t>, </a:t>
            </a:r>
            <a:r>
              <a:rPr b="0" i="0" lang="en-GB" sz="900" u="none" cap="none" strike="noStrike">
                <a:solidFill>
                  <a:srgbClr val="CCCCDD"/>
                </a:solidFill>
                <a:latin typeface="Calibri"/>
                <a:ea typeface="Calibri"/>
                <a:cs typeface="Calibri"/>
                <a:sym typeface="Calibri"/>
              </a:rPr>
              <a:t> none of these exist in the standard interface. Infrastructure faults are invisible without them.</a:t>
            </a:r>
            <a:endParaRPr sz="1100"/>
          </a:p>
        </p:txBody>
      </p:sp>
      <p:sp>
        <p:nvSpPr>
          <p:cNvPr id="296" name="Google Shape;296;p36"/>
          <p:cNvSpPr/>
          <p:nvPr/>
        </p:nvSpPr>
        <p:spPr>
          <a:xfrm>
            <a:off x="274389" y="4423410"/>
            <a:ext cx="8574645" cy="377190"/>
          </a:xfrm>
          <a:prstGeom prst="rect">
            <a:avLst/>
          </a:prstGeom>
          <a:solidFill>
            <a:srgbClr val="0A2A0A"/>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1" i="0" lang="en-GB" sz="900" u="none" cap="none" strike="noStrike">
                <a:solidFill>
                  <a:srgbClr val="2E8B57"/>
                </a:solidFill>
                <a:latin typeface="Calibri"/>
                <a:ea typeface="Calibri"/>
                <a:cs typeface="Calibri"/>
                <a:sym typeface="Calibri"/>
              </a:rPr>
              <a:t>Conclusion: jBPF is not a replacement for standard metrics</a:t>
            </a:r>
            <a:r>
              <a:rPr b="1" lang="en-GB" sz="900">
                <a:solidFill>
                  <a:srgbClr val="2E8B57"/>
                </a:solidFill>
                <a:latin typeface="Calibri"/>
                <a:ea typeface="Calibri"/>
                <a:cs typeface="Calibri"/>
                <a:sym typeface="Calibri"/>
              </a:rPr>
              <a:t>, but rather </a:t>
            </a:r>
            <a:r>
              <a:rPr b="1" i="0" lang="en-GB" sz="900" u="none" cap="none" strike="noStrike">
                <a:solidFill>
                  <a:srgbClr val="2E8B57"/>
                </a:solidFill>
                <a:latin typeface="Calibri"/>
                <a:ea typeface="Calibri"/>
                <a:cs typeface="Calibri"/>
                <a:sym typeface="Calibri"/>
              </a:rPr>
              <a:t> it is a complementary layer that adds depth, resolution, and fault visibility that standard monitoring cannot provide.</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300" name="Shape 300"/>
        <p:cNvGrpSpPr/>
        <p:nvPr/>
      </p:nvGrpSpPr>
      <p:grpSpPr>
        <a:xfrm>
          <a:off x="0" y="0"/>
          <a:ext cx="0" cy="0"/>
          <a:chOff x="0" y="0"/>
          <a:chExt cx="0" cy="0"/>
        </a:xfrm>
      </p:grpSpPr>
      <p:sp>
        <p:nvSpPr>
          <p:cNvPr id="301" name="Google Shape;301;p37"/>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2" name="Google Shape;302;p37"/>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The 1.95× Throughput Difference — Not a Bug</a:t>
            </a:r>
            <a:endParaRPr sz="1100"/>
          </a:p>
        </p:txBody>
      </p:sp>
      <p:sp>
        <p:nvSpPr>
          <p:cNvPr id="303" name="Google Shape;303;p37"/>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pic>
        <p:nvPicPr>
          <p:cNvPr descr="fig_throughput_stack.png" id="304" name="Google Shape;304;p37"/>
          <p:cNvPicPr preferRelativeResize="0"/>
          <p:nvPr/>
        </p:nvPicPr>
        <p:blipFill rotWithShape="1">
          <a:blip r:embed="rId3">
            <a:alphaModFix/>
          </a:blip>
          <a:srcRect b="0" l="0" r="0" t="0"/>
          <a:stretch/>
        </p:blipFill>
        <p:spPr>
          <a:xfrm>
            <a:off x="205791" y="754380"/>
            <a:ext cx="4801801" cy="3840480"/>
          </a:xfrm>
          <a:prstGeom prst="rect">
            <a:avLst/>
          </a:prstGeom>
          <a:noFill/>
          <a:ln>
            <a:noFill/>
          </a:ln>
        </p:spPr>
      </p:pic>
      <p:sp>
        <p:nvSpPr>
          <p:cNvPr id="305" name="Google Shape;305;p37"/>
          <p:cNvSpPr txBox="1"/>
          <p:nvPr/>
        </p:nvSpPr>
        <p:spPr>
          <a:xfrm>
            <a:off x="5144787" y="822960"/>
            <a:ext cx="3841500" cy="34557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b="1" lang="en-GB" sz="1000">
                <a:solidFill>
                  <a:srgbClr val="FFFFFF"/>
                </a:solidFill>
                <a:latin typeface="Calibri"/>
                <a:ea typeface="Calibri"/>
                <a:cs typeface="Calibri"/>
                <a:sym typeface="Calibri"/>
              </a:rPr>
              <a:t>What I observed:        </a:t>
            </a:r>
            <a:r>
              <a:rPr lang="en-GB" sz="1000">
                <a:solidFill>
                  <a:srgbClr val="FFFFFF"/>
                </a:solidFill>
                <a:latin typeface="Calibri"/>
                <a:ea typeface="Calibri"/>
                <a:cs typeface="Calibri"/>
                <a:sym typeface="Calibri"/>
              </a:rPr>
              <a:t>                                                                          </a:t>
            </a:r>
            <a:endParaRPr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                                         </a:t>
            </a:r>
            <a:endParaRPr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 We sent 10 Mbps UL and 5 Mbps DL through the pipeline and recorded both telemetry systems  simultaneously. The numbers came back different:                                                   </a:t>
            </a:r>
            <a:endParaRPr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 - jBPF (ue_ul/dl_throughput codelet) reported 10 Mbps UL / 5 Mbps DL                                 - Standard metrics reported 19.45 Mbps UL / 9.79 Mbps DL</a:t>
            </a:r>
            <a:endParaRPr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  </a:t>
            </a:r>
            <a:r>
              <a:rPr b="1" lang="en-GB" sz="1000">
                <a:solidFill>
                  <a:srgbClr val="FFFFFF"/>
                </a:solidFill>
                <a:latin typeface="Calibri"/>
                <a:ea typeface="Calibri"/>
                <a:cs typeface="Calibri"/>
                <a:sym typeface="Calibri"/>
              </a:rPr>
              <a:t>Why it happens:           </a:t>
            </a:r>
            <a:r>
              <a:rPr lang="en-GB" sz="1000">
                <a:solidFill>
                  <a:srgbClr val="FFFFFF"/>
                </a:solidFill>
                <a:latin typeface="Calibri"/>
                <a:ea typeface="Calibri"/>
                <a:cs typeface="Calibri"/>
                <a:sym typeface="Calibri"/>
              </a:rPr>
              <a:t>                                </a:t>
            </a:r>
            <a:endParaRPr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 They measure at different points in the stack. The jBPF throughput codelet hooks into the application layer and captures exactly what iperf3 delivered, the raw payload. The standard metrics tap into the MAC layer, deep inside the base station, after every protocol layer has       </a:t>
            </a:r>
            <a:endParaRPr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  wrapped the data with its own headers and control information:</a:t>
            </a:r>
            <a:endParaRPr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 All that wrapping consistently adds up to roughly 2× the original payload. The 1.95× ratio I observed is exactly what you would expect from a 10 MHz NR cell carrying UDP traffic.</a:t>
            </a:r>
            <a:endParaRPr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                                                                                                     </a:t>
            </a:r>
            <a:endParaRPr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 </a:t>
            </a:r>
            <a:r>
              <a:rPr b="1" lang="en-GB" sz="1000">
                <a:solidFill>
                  <a:srgbClr val="FFFFFF"/>
                </a:solidFill>
                <a:latin typeface="Calibri"/>
                <a:ea typeface="Calibri"/>
                <a:cs typeface="Calibri"/>
                <a:sym typeface="Calibri"/>
              </a:rPr>
              <a:t>The takeaway:                                             </a:t>
            </a:r>
            <a:endParaRPr b="1" sz="10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000">
                <a:solidFill>
                  <a:srgbClr val="FFFFFF"/>
                </a:solidFill>
                <a:latin typeface="Calibri"/>
                <a:ea typeface="Calibri"/>
                <a:cs typeface="Calibri"/>
                <a:sym typeface="Calibri"/>
              </a:rPr>
              <a:t>This is not a measurement error. Both systems are correct, they simply have different vantage points. The radio metrics (SINR, MCS, CQI, BLER) where both systems measure the same thing agree within 1.5%.                                              </a:t>
            </a:r>
            <a:endParaRPr sz="10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000">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309" name="Shape 309"/>
        <p:cNvGrpSpPr/>
        <p:nvPr/>
      </p:nvGrpSpPr>
      <p:grpSpPr>
        <a:xfrm>
          <a:off x="0" y="0"/>
          <a:ext cx="0" cy="0"/>
          <a:chOff x="0" y="0"/>
          <a:chExt cx="0" cy="0"/>
        </a:xfrm>
      </p:grpSpPr>
      <p:sp>
        <p:nvSpPr>
          <p:cNvPr id="310" name="Google Shape;310;p38"/>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1" name="Google Shape;311;p38"/>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CPU Overhead — Measured from the Telemetry Itself</a:t>
            </a:r>
            <a:endParaRPr sz="1100"/>
          </a:p>
        </p:txBody>
      </p:sp>
      <p:pic>
        <p:nvPicPr>
          <p:cNvPr descr="fig_cpu_overhead.png" id="312" name="Google Shape;312;p38"/>
          <p:cNvPicPr preferRelativeResize="0"/>
          <p:nvPr/>
        </p:nvPicPr>
        <p:blipFill rotWithShape="1">
          <a:blip r:embed="rId3">
            <a:alphaModFix/>
          </a:blip>
          <a:srcRect b="0" l="0" r="0" t="0"/>
          <a:stretch/>
        </p:blipFill>
        <p:spPr>
          <a:xfrm>
            <a:off x="205791" y="754380"/>
            <a:ext cx="8711839" cy="39090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316" name="Shape 316"/>
        <p:cNvGrpSpPr/>
        <p:nvPr/>
      </p:nvGrpSpPr>
      <p:grpSpPr>
        <a:xfrm>
          <a:off x="0" y="0"/>
          <a:ext cx="0" cy="0"/>
          <a:chOff x="0" y="0"/>
          <a:chExt cx="0" cy="0"/>
        </a:xfrm>
      </p:grpSpPr>
      <p:sp>
        <p:nvSpPr>
          <p:cNvPr id="317" name="Google Shape;317;p39"/>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8" name="Google Shape;318;p39"/>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Anomaly Datasets — 5 621 Labelled Samples, 19 Features</a:t>
            </a:r>
            <a:endParaRPr sz="1100"/>
          </a:p>
        </p:txBody>
      </p:sp>
      <p:sp>
        <p:nvSpPr>
          <p:cNvPr id="319" name="Google Shape;319;p39"/>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320" name="Google Shape;320;p39"/>
          <p:cNvSpPr/>
          <p:nvPr/>
        </p:nvSpPr>
        <p:spPr>
          <a:xfrm>
            <a:off x="205791" y="788670"/>
            <a:ext cx="2126512" cy="2743200"/>
          </a:xfrm>
          <a:prstGeom prst="rect">
            <a:avLst/>
          </a:prstGeom>
          <a:solidFill>
            <a:srgbClr val="0D0D25"/>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1" name="Google Shape;321;p39"/>
          <p:cNvSpPr/>
          <p:nvPr/>
        </p:nvSpPr>
        <p:spPr>
          <a:xfrm>
            <a:off x="205791" y="788670"/>
            <a:ext cx="2126512" cy="288036"/>
          </a:xfrm>
          <a:prstGeom prst="rect">
            <a:avLst/>
          </a:prstGeom>
          <a:solidFill>
            <a:srgbClr val="2E8B57"/>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2" name="Google Shape;322;p39"/>
          <p:cNvSpPr txBox="1"/>
          <p:nvPr/>
        </p:nvSpPr>
        <p:spPr>
          <a:xfrm>
            <a:off x="260669" y="809244"/>
            <a:ext cx="2057915"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Class 0 — Normal</a:t>
            </a:r>
            <a:endParaRPr sz="1100"/>
          </a:p>
        </p:txBody>
      </p:sp>
      <p:sp>
        <p:nvSpPr>
          <p:cNvPr id="323" name="Google Shape;323;p39"/>
          <p:cNvSpPr txBox="1"/>
          <p:nvPr/>
        </p:nvSpPr>
        <p:spPr>
          <a:xfrm>
            <a:off x="274389" y="1110996"/>
            <a:ext cx="2023616" cy="23317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The network running as intended.</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Clean radio, no load stress.</a:t>
            </a:r>
            <a:br>
              <a:rPr b="0" i="0" lang="en-GB" sz="800" u="none" cap="none" strike="noStrike">
                <a:solidFill>
                  <a:srgbClr val="CCCCDD"/>
                </a:solidFill>
                <a:latin typeface="Calibri"/>
                <a:ea typeface="Calibri"/>
                <a:cs typeface="Calibri"/>
                <a:sym typeface="Calibri"/>
              </a:rPr>
            </a:b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2 063 samples</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(baseline reference)</a:t>
            </a:r>
            <a:endParaRPr sz="1100"/>
          </a:p>
        </p:txBody>
      </p:sp>
      <p:sp>
        <p:nvSpPr>
          <p:cNvPr id="324" name="Google Shape;324;p39"/>
          <p:cNvSpPr/>
          <p:nvPr/>
        </p:nvSpPr>
        <p:spPr>
          <a:xfrm>
            <a:off x="2448919" y="788670"/>
            <a:ext cx="2126512" cy="2743200"/>
          </a:xfrm>
          <a:prstGeom prst="rect">
            <a:avLst/>
          </a:prstGeom>
          <a:solidFill>
            <a:srgbClr val="0D0D25"/>
          </a:solidFill>
          <a:ln cap="flat" cmpd="sng" w="19050">
            <a:solidFill>
              <a:srgbClr val="E65C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5" name="Google Shape;325;p39"/>
          <p:cNvSpPr/>
          <p:nvPr/>
        </p:nvSpPr>
        <p:spPr>
          <a:xfrm>
            <a:off x="2448919" y="788670"/>
            <a:ext cx="2126512" cy="288036"/>
          </a:xfrm>
          <a:prstGeom prst="rect">
            <a:avLst/>
          </a:prstGeom>
          <a:solidFill>
            <a:srgbClr val="E65C00"/>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6" name="Google Shape;326;p39"/>
          <p:cNvSpPr txBox="1"/>
          <p:nvPr/>
        </p:nvSpPr>
        <p:spPr>
          <a:xfrm>
            <a:off x="2503796" y="809244"/>
            <a:ext cx="2057915"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Class 1 — Scheduler Fault</a:t>
            </a:r>
            <a:endParaRPr sz="1100"/>
          </a:p>
        </p:txBody>
      </p:sp>
      <p:sp>
        <p:nvSpPr>
          <p:cNvPr id="327" name="Google Shape;327;p39"/>
          <p:cNvSpPr txBox="1"/>
          <p:nvPr/>
        </p:nvSpPr>
        <p:spPr>
          <a:xfrm>
            <a:off x="2517516" y="1110996"/>
            <a:ext cx="2023500" cy="808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800">
                <a:solidFill>
                  <a:srgbClr val="CCCCDD"/>
                </a:solidFill>
                <a:latin typeface="Calibri"/>
                <a:ea typeface="Calibri"/>
                <a:cs typeface="Calibri"/>
                <a:sym typeface="Calibri"/>
              </a:rPr>
              <a:t>I</a:t>
            </a:r>
            <a:r>
              <a:rPr b="0" i="0" lang="en-GB" sz="800" u="none" cap="none" strike="noStrike">
                <a:solidFill>
                  <a:srgbClr val="CCCCDD"/>
                </a:solidFill>
                <a:latin typeface="Calibri"/>
                <a:ea typeface="Calibri"/>
                <a:cs typeface="Calibri"/>
                <a:sym typeface="Calibri"/>
              </a:rPr>
              <a:t> lowered the priority of the gNB</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real-time thread in the OS. The radio</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starts missing its 1 ms deadlines.</a:t>
            </a:r>
            <a:br>
              <a:rPr b="0" i="0" lang="en-GB" sz="800" u="none" cap="none" strike="noStrike">
                <a:solidFill>
                  <a:srgbClr val="CCCCDD"/>
                </a:solidFill>
                <a:latin typeface="Calibri"/>
                <a:ea typeface="Calibri"/>
                <a:cs typeface="Calibri"/>
                <a:sym typeface="Calibri"/>
              </a:rPr>
            </a:b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462 samples</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(software/OS fault)</a:t>
            </a:r>
            <a:endParaRPr sz="1100"/>
          </a:p>
        </p:txBody>
      </p:sp>
      <p:sp>
        <p:nvSpPr>
          <p:cNvPr id="328" name="Google Shape;328;p39"/>
          <p:cNvSpPr/>
          <p:nvPr/>
        </p:nvSpPr>
        <p:spPr>
          <a:xfrm>
            <a:off x="4692046" y="788670"/>
            <a:ext cx="2126512" cy="2743200"/>
          </a:xfrm>
          <a:prstGeom prst="rect">
            <a:avLst/>
          </a:prstGeom>
          <a:solidFill>
            <a:srgbClr val="0D0D25"/>
          </a:solidFill>
          <a:ln cap="flat" cmpd="sng" w="19050">
            <a:solidFill>
              <a:srgbClr val="B2222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9" name="Google Shape;329;p39"/>
          <p:cNvSpPr/>
          <p:nvPr/>
        </p:nvSpPr>
        <p:spPr>
          <a:xfrm>
            <a:off x="4692046" y="788670"/>
            <a:ext cx="2126512" cy="288036"/>
          </a:xfrm>
          <a:prstGeom prst="rect">
            <a:avLst/>
          </a:prstGeom>
          <a:solidFill>
            <a:srgbClr val="B2222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0" name="Google Shape;330;p39"/>
          <p:cNvSpPr txBox="1"/>
          <p:nvPr/>
        </p:nvSpPr>
        <p:spPr>
          <a:xfrm>
            <a:off x="4746924" y="809244"/>
            <a:ext cx="2057915"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Class 2 — Traffic Flood</a:t>
            </a:r>
            <a:endParaRPr sz="1100"/>
          </a:p>
        </p:txBody>
      </p:sp>
      <p:sp>
        <p:nvSpPr>
          <p:cNvPr id="331" name="Google Shape;331;p39"/>
          <p:cNvSpPr txBox="1"/>
          <p:nvPr/>
        </p:nvSpPr>
        <p:spPr>
          <a:xfrm>
            <a:off x="4760643" y="1110996"/>
            <a:ext cx="2023500" cy="808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800">
                <a:solidFill>
                  <a:srgbClr val="CCCCDD"/>
                </a:solidFill>
                <a:latin typeface="Calibri"/>
                <a:ea typeface="Calibri"/>
                <a:cs typeface="Calibri"/>
                <a:sym typeface="Calibri"/>
              </a:rPr>
              <a:t>I</a:t>
            </a:r>
            <a:r>
              <a:rPr b="0" i="0" lang="en-GB" sz="800" u="none" cap="none" strike="noStrike">
                <a:solidFill>
                  <a:srgbClr val="CCCCDD"/>
                </a:solidFill>
                <a:latin typeface="Calibri"/>
                <a:ea typeface="Calibri"/>
                <a:cs typeface="Calibri"/>
                <a:sym typeface="Calibri"/>
              </a:rPr>
              <a:t> blasted the UE with massive</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UDP / TCP traffic </a:t>
            </a:r>
            <a:r>
              <a:rPr lang="en-GB" sz="800">
                <a:solidFill>
                  <a:srgbClr val="CCCCDD"/>
                </a:solidFill>
                <a:latin typeface="Calibri"/>
                <a:ea typeface="Calibri"/>
                <a:cs typeface="Calibri"/>
                <a:sym typeface="Calibri"/>
              </a:rPr>
              <a:t>, </a:t>
            </a:r>
            <a:r>
              <a:rPr b="0" i="0" lang="en-GB" sz="800" u="none" cap="none" strike="noStrike">
                <a:solidFill>
                  <a:srgbClr val="CCCCDD"/>
                </a:solidFill>
                <a:latin typeface="Calibri"/>
                <a:ea typeface="Calibri"/>
                <a:cs typeface="Calibri"/>
                <a:sym typeface="Calibri"/>
              </a:rPr>
              <a:t> like a denial-of-</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service attack on the radio link.</a:t>
            </a:r>
            <a:br>
              <a:rPr b="0" i="0" lang="en-GB" sz="800" u="none" cap="none" strike="noStrike">
                <a:solidFill>
                  <a:srgbClr val="CCCCDD"/>
                </a:solidFill>
                <a:latin typeface="Calibri"/>
                <a:ea typeface="Calibri"/>
                <a:cs typeface="Calibri"/>
                <a:sym typeface="Calibri"/>
              </a:rPr>
            </a:b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936 samples</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(overload stress)</a:t>
            </a:r>
            <a:endParaRPr sz="1100"/>
          </a:p>
        </p:txBody>
      </p:sp>
      <p:sp>
        <p:nvSpPr>
          <p:cNvPr id="332" name="Google Shape;332;p39"/>
          <p:cNvSpPr/>
          <p:nvPr/>
        </p:nvSpPr>
        <p:spPr>
          <a:xfrm>
            <a:off x="6935173" y="788670"/>
            <a:ext cx="2126512" cy="2743200"/>
          </a:xfrm>
          <a:prstGeom prst="rect">
            <a:avLst/>
          </a:prstGeom>
          <a:solidFill>
            <a:srgbClr val="0D0D25"/>
          </a:solidFill>
          <a:ln cap="flat" cmpd="sng" w="19050">
            <a:solidFill>
              <a:srgbClr val="6A0DA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3" name="Google Shape;333;p39"/>
          <p:cNvSpPr/>
          <p:nvPr/>
        </p:nvSpPr>
        <p:spPr>
          <a:xfrm>
            <a:off x="6935173" y="788670"/>
            <a:ext cx="2126512" cy="288036"/>
          </a:xfrm>
          <a:prstGeom prst="rect">
            <a:avLst/>
          </a:prstGeom>
          <a:solidFill>
            <a:srgbClr val="6A0DAD"/>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4" name="Google Shape;334;p39"/>
          <p:cNvSpPr txBox="1"/>
          <p:nvPr/>
        </p:nvSpPr>
        <p:spPr>
          <a:xfrm>
            <a:off x="6990051" y="809244"/>
            <a:ext cx="2057915"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Class 3 — Channel Degradation</a:t>
            </a:r>
            <a:endParaRPr sz="1100"/>
          </a:p>
        </p:txBody>
      </p:sp>
      <p:sp>
        <p:nvSpPr>
          <p:cNvPr id="335" name="Google Shape;335;p39"/>
          <p:cNvSpPr txBox="1"/>
          <p:nvPr/>
        </p:nvSpPr>
        <p:spPr>
          <a:xfrm>
            <a:off x="7003770" y="1110996"/>
            <a:ext cx="2023500" cy="808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800">
                <a:solidFill>
                  <a:srgbClr val="CCCCDD"/>
                </a:solidFill>
                <a:latin typeface="Calibri"/>
                <a:ea typeface="Calibri"/>
                <a:cs typeface="Calibri"/>
                <a:sym typeface="Calibri"/>
              </a:rPr>
              <a:t>I</a:t>
            </a:r>
            <a:r>
              <a:rPr b="0" i="0" lang="en-GB" sz="800" u="none" cap="none" strike="noStrike">
                <a:solidFill>
                  <a:srgbClr val="CCCCDD"/>
                </a:solidFill>
                <a:latin typeface="Calibri"/>
                <a:ea typeface="Calibri"/>
                <a:cs typeface="Calibri"/>
                <a:sym typeface="Calibri"/>
              </a:rPr>
              <a:t> injected RF impairments via the</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channel broker: fading, noise, burst</a:t>
            </a:r>
            <a:br>
              <a:rPr b="0" i="0" lang="en-GB" sz="800" u="none" cap="none" strike="noStrike">
                <a:solidFill>
                  <a:srgbClr val="CCCCDD"/>
                </a:solidFill>
                <a:latin typeface="Calibri"/>
                <a:ea typeface="Calibri"/>
                <a:cs typeface="Calibri"/>
                <a:sym typeface="Calibri"/>
              </a:rPr>
            </a:br>
            <a:r>
              <a:rPr lang="en-GB" sz="800">
                <a:solidFill>
                  <a:srgbClr val="CCCCDD"/>
                </a:solidFill>
                <a:latin typeface="Calibri"/>
                <a:ea typeface="Calibri"/>
                <a:cs typeface="Calibri"/>
                <a:sym typeface="Calibri"/>
              </a:rPr>
              <a:t>D</a:t>
            </a:r>
            <a:r>
              <a:rPr b="0" i="0" lang="en-GB" sz="800" u="none" cap="none" strike="noStrike">
                <a:solidFill>
                  <a:srgbClr val="CCCCDD"/>
                </a:solidFill>
                <a:latin typeface="Calibri"/>
                <a:ea typeface="Calibri"/>
                <a:cs typeface="Calibri"/>
                <a:sym typeface="Calibri"/>
              </a:rPr>
              <a:t>rops</a:t>
            </a:r>
            <a:r>
              <a:rPr lang="en-GB" sz="800">
                <a:solidFill>
                  <a:srgbClr val="CCCCDD"/>
                </a:solidFill>
                <a:latin typeface="Calibri"/>
                <a:ea typeface="Calibri"/>
                <a:cs typeface="Calibri"/>
                <a:sym typeface="Calibri"/>
              </a:rPr>
              <a:t>, </a:t>
            </a:r>
            <a:r>
              <a:rPr b="0" i="0" lang="en-GB" sz="800" u="none" cap="none" strike="noStrike">
                <a:solidFill>
                  <a:srgbClr val="CCCCDD"/>
                </a:solidFill>
                <a:latin typeface="Calibri"/>
                <a:ea typeface="Calibri"/>
                <a:cs typeface="Calibri"/>
                <a:sym typeface="Calibri"/>
              </a:rPr>
              <a:t>simulating poor radio coverage.</a:t>
            </a:r>
            <a:br>
              <a:rPr b="0" i="0" lang="en-GB" sz="800" u="none" cap="none" strike="noStrike">
                <a:solidFill>
                  <a:srgbClr val="CCCCDD"/>
                </a:solidFill>
                <a:latin typeface="Calibri"/>
                <a:ea typeface="Calibri"/>
                <a:cs typeface="Calibri"/>
                <a:sym typeface="Calibri"/>
              </a:rPr>
            </a:b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2 160 samples</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(radio environment stress)</a:t>
            </a:r>
            <a:endParaRPr sz="1100"/>
          </a:p>
        </p:txBody>
      </p:sp>
      <p:sp>
        <p:nvSpPr>
          <p:cNvPr id="336" name="Google Shape;336;p39"/>
          <p:cNvSpPr/>
          <p:nvPr/>
        </p:nvSpPr>
        <p:spPr>
          <a:xfrm>
            <a:off x="205800" y="3531875"/>
            <a:ext cx="8938200" cy="1234500"/>
          </a:xfrm>
          <a:prstGeom prst="rect">
            <a:avLst/>
          </a:prstGeom>
          <a:solidFill>
            <a:srgbClr val="1A0A0A"/>
          </a:solidFill>
          <a:ln cap="flat" cmpd="sng" w="19050">
            <a:solidFill>
              <a:srgbClr val="B2222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rtl="0" algn="l">
              <a:spcBef>
                <a:spcPts val="0"/>
              </a:spcBef>
              <a:spcAft>
                <a:spcPts val="0"/>
              </a:spcAft>
              <a:buSzPts val="1100"/>
              <a:buNone/>
            </a:pPr>
            <a:r>
              <a:rPr lang="en-GB">
                <a:solidFill>
                  <a:schemeClr val="lt1"/>
                </a:solidFill>
                <a:latin typeface="Calibri"/>
                <a:ea typeface="Calibri"/>
                <a:cs typeface="Calibri"/>
                <a:sym typeface="Calibri"/>
              </a:rPr>
              <a:t>The project needed labelled data showing how the 5G network behaves under different failure conditions. The challenge was that a real network never tells you what is wrong or when something failed. </a:t>
            </a:r>
            <a:endParaRPr>
              <a:solidFill>
                <a:schemeClr val="lt1"/>
              </a:solidFill>
              <a:latin typeface="Calibri"/>
              <a:ea typeface="Calibri"/>
              <a:cs typeface="Calibri"/>
              <a:sym typeface="Calibri"/>
            </a:endParaRPr>
          </a:p>
          <a:p>
            <a:pPr indent="0" lvl="0" marL="0" rtl="0" algn="l">
              <a:spcBef>
                <a:spcPts val="0"/>
              </a:spcBef>
              <a:spcAft>
                <a:spcPts val="0"/>
              </a:spcAft>
              <a:buSzPts val="1100"/>
              <a:buNone/>
            </a:pPr>
            <a:r>
              <a:rPr lang="en-GB">
                <a:solidFill>
                  <a:schemeClr val="lt1"/>
                </a:solidFill>
                <a:latin typeface="Calibri"/>
                <a:ea typeface="Calibri"/>
                <a:cs typeface="Calibri"/>
                <a:sym typeface="Calibri"/>
              </a:rPr>
              <a:t>For each class I ran multiple scenarios, recorded the telemetry, and attached a label. The result is 5,621 labelled samples with 19 features per sample, covering 35 recorded scenarios.</a:t>
            </a:r>
            <a:endParaRPr>
              <a:solidFill>
                <a:schemeClr val="lt1"/>
              </a:solidFill>
              <a:latin typeface="Calibri"/>
              <a:ea typeface="Calibri"/>
              <a:cs typeface="Calibri"/>
              <a:sym typeface="Calibri"/>
            </a:endParaRPr>
          </a:p>
          <a:p>
            <a:pPr indent="0" lvl="0" marL="0" rtl="0" algn="l">
              <a:spcBef>
                <a:spcPts val="0"/>
              </a:spcBef>
              <a:spcAft>
                <a:spcPts val="0"/>
              </a:spcAft>
              <a:buSzPts val="1100"/>
              <a:buNone/>
            </a:pPr>
            <a:r>
              <a:t/>
            </a:r>
            <a:endParaRPr>
              <a:solidFill>
                <a:schemeClr val="lt1"/>
              </a:solidFill>
              <a:latin typeface="Calibri"/>
              <a:ea typeface="Calibri"/>
              <a:cs typeface="Calibri"/>
              <a:sym typeface="Calibri"/>
            </a:endParaRPr>
          </a:p>
          <a:p>
            <a:pPr indent="0" lvl="0" marL="0" rtl="0" algn="l">
              <a:spcBef>
                <a:spcPts val="0"/>
              </a:spcBef>
              <a:spcAft>
                <a:spcPts val="0"/>
              </a:spcAft>
              <a:buSzPts val="1100"/>
              <a:buNone/>
            </a:pPr>
            <a:r>
              <a:t/>
            </a:r>
            <a:endParaRPr>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340" name="Shape 340"/>
        <p:cNvGrpSpPr/>
        <p:nvPr/>
      </p:nvGrpSpPr>
      <p:grpSpPr>
        <a:xfrm>
          <a:off x="0" y="0"/>
          <a:ext cx="0" cy="0"/>
          <a:chOff x="0" y="0"/>
          <a:chExt cx="0" cy="0"/>
        </a:xfrm>
      </p:grpSpPr>
      <p:sp>
        <p:nvSpPr>
          <p:cNvPr id="341" name="Google Shape;341;p40"/>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2" name="Google Shape;342;p40"/>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Anomaly Dataset — Labels and Features</a:t>
            </a:r>
            <a:endParaRPr sz="1100"/>
          </a:p>
        </p:txBody>
      </p:sp>
      <p:sp>
        <p:nvSpPr>
          <p:cNvPr id="343" name="Google Shape;343;p40"/>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344" name="Google Shape;344;p40"/>
          <p:cNvSpPr txBox="1"/>
          <p:nvPr/>
        </p:nvSpPr>
        <p:spPr>
          <a:xfrm>
            <a:off x="274389" y="754380"/>
            <a:ext cx="3978635"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0C060"/>
                </a:solidFill>
                <a:latin typeface="Calibri"/>
                <a:ea typeface="Calibri"/>
                <a:cs typeface="Calibri"/>
                <a:sym typeface="Calibri"/>
              </a:rPr>
              <a:t>Labels (4 classes)</a:t>
            </a:r>
            <a:endParaRPr sz="1100"/>
          </a:p>
        </p:txBody>
      </p:sp>
      <p:sp>
        <p:nvSpPr>
          <p:cNvPr id="345" name="Google Shape;345;p40"/>
          <p:cNvSpPr/>
          <p:nvPr/>
        </p:nvSpPr>
        <p:spPr>
          <a:xfrm>
            <a:off x="274389" y="1062990"/>
            <a:ext cx="3978635" cy="877824"/>
          </a:xfrm>
          <a:prstGeom prst="rect">
            <a:avLst/>
          </a:prstGeom>
          <a:solidFill>
            <a:srgbClr val="08081E"/>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6" name="Google Shape;346;p40"/>
          <p:cNvSpPr/>
          <p:nvPr/>
        </p:nvSpPr>
        <p:spPr>
          <a:xfrm>
            <a:off x="274389" y="1062990"/>
            <a:ext cx="3978635" cy="260604"/>
          </a:xfrm>
          <a:prstGeom prst="rect">
            <a:avLst/>
          </a:prstGeom>
          <a:solidFill>
            <a:srgbClr val="2E8B57"/>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7" name="Google Shape;347;p40"/>
          <p:cNvSpPr txBox="1"/>
          <p:nvPr/>
        </p:nvSpPr>
        <p:spPr>
          <a:xfrm>
            <a:off x="342986" y="1090422"/>
            <a:ext cx="3841441"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0 — Normal</a:t>
            </a:r>
            <a:endParaRPr sz="1100"/>
          </a:p>
        </p:txBody>
      </p:sp>
      <p:sp>
        <p:nvSpPr>
          <p:cNvPr id="348" name="Google Shape;348;p40"/>
          <p:cNvSpPr txBox="1"/>
          <p:nvPr/>
        </p:nvSpPr>
        <p:spPr>
          <a:xfrm>
            <a:off x="342986" y="1351026"/>
            <a:ext cx="3841441" cy="56235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Network running cleanly.</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No stress, no impairment.</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2,063 samples</a:t>
            </a:r>
            <a:endParaRPr sz="1100"/>
          </a:p>
        </p:txBody>
      </p:sp>
      <p:sp>
        <p:nvSpPr>
          <p:cNvPr id="349" name="Google Shape;349;p40"/>
          <p:cNvSpPr/>
          <p:nvPr/>
        </p:nvSpPr>
        <p:spPr>
          <a:xfrm>
            <a:off x="274389" y="1988820"/>
            <a:ext cx="3978635" cy="877824"/>
          </a:xfrm>
          <a:prstGeom prst="rect">
            <a:avLst/>
          </a:prstGeom>
          <a:solidFill>
            <a:srgbClr val="08081E"/>
          </a:solidFill>
          <a:ln cap="flat" cmpd="sng" w="19050">
            <a:solidFill>
              <a:srgbClr val="E65C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0" name="Google Shape;350;p40"/>
          <p:cNvSpPr/>
          <p:nvPr/>
        </p:nvSpPr>
        <p:spPr>
          <a:xfrm>
            <a:off x="274389" y="1988820"/>
            <a:ext cx="3978635" cy="260604"/>
          </a:xfrm>
          <a:prstGeom prst="rect">
            <a:avLst/>
          </a:prstGeom>
          <a:solidFill>
            <a:srgbClr val="E65C00"/>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1" name="Google Shape;351;p40"/>
          <p:cNvSpPr txBox="1"/>
          <p:nvPr/>
        </p:nvSpPr>
        <p:spPr>
          <a:xfrm>
            <a:off x="342986" y="2016252"/>
            <a:ext cx="3841441"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1 — Scheduler Fault</a:t>
            </a:r>
            <a:endParaRPr sz="1100"/>
          </a:p>
        </p:txBody>
      </p:sp>
      <p:sp>
        <p:nvSpPr>
          <p:cNvPr id="352" name="Google Shape;352;p40"/>
          <p:cNvSpPr txBox="1"/>
          <p:nvPr/>
        </p:nvSpPr>
        <p:spPr>
          <a:xfrm>
            <a:off x="342986" y="2276856"/>
            <a:ext cx="38415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gNB real-time thread priority</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lowered by the OS</a:t>
            </a:r>
            <a:r>
              <a:rPr lang="en-GB" sz="800">
                <a:solidFill>
                  <a:srgbClr val="CCCCDD"/>
                </a:solidFill>
                <a:latin typeface="Calibri"/>
                <a:ea typeface="Calibri"/>
                <a:cs typeface="Calibri"/>
                <a:sym typeface="Calibri"/>
              </a:rPr>
              <a:t>, </a:t>
            </a:r>
            <a:r>
              <a:rPr b="0" i="0" lang="en-GB" sz="800" u="none" cap="none" strike="noStrike">
                <a:solidFill>
                  <a:srgbClr val="CCCCDD"/>
                </a:solidFill>
                <a:latin typeface="Calibri"/>
                <a:ea typeface="Calibri"/>
                <a:cs typeface="Calibri"/>
                <a:sym typeface="Calibri"/>
              </a:rPr>
              <a:t>misses</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1ms slot deadlines.</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462 samples</a:t>
            </a:r>
            <a:endParaRPr sz="1100"/>
          </a:p>
        </p:txBody>
      </p:sp>
      <p:sp>
        <p:nvSpPr>
          <p:cNvPr id="353" name="Google Shape;353;p40"/>
          <p:cNvSpPr/>
          <p:nvPr/>
        </p:nvSpPr>
        <p:spPr>
          <a:xfrm>
            <a:off x="274389" y="2914650"/>
            <a:ext cx="3978635" cy="877824"/>
          </a:xfrm>
          <a:prstGeom prst="rect">
            <a:avLst/>
          </a:prstGeom>
          <a:solidFill>
            <a:srgbClr val="08081E"/>
          </a:solidFill>
          <a:ln cap="flat" cmpd="sng" w="19050">
            <a:solidFill>
              <a:srgbClr val="B2222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4" name="Google Shape;354;p40"/>
          <p:cNvSpPr/>
          <p:nvPr/>
        </p:nvSpPr>
        <p:spPr>
          <a:xfrm>
            <a:off x="274389" y="2914650"/>
            <a:ext cx="3978635" cy="260604"/>
          </a:xfrm>
          <a:prstGeom prst="rect">
            <a:avLst/>
          </a:prstGeom>
          <a:solidFill>
            <a:srgbClr val="B2222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5" name="Google Shape;355;p40"/>
          <p:cNvSpPr txBox="1"/>
          <p:nvPr/>
        </p:nvSpPr>
        <p:spPr>
          <a:xfrm>
            <a:off x="342986" y="2942082"/>
            <a:ext cx="3841441"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2 — Traffic Flood</a:t>
            </a:r>
            <a:endParaRPr sz="1100"/>
          </a:p>
        </p:txBody>
      </p:sp>
      <p:sp>
        <p:nvSpPr>
          <p:cNvPr id="356" name="Google Shape;356;p40"/>
          <p:cNvSpPr txBox="1"/>
          <p:nvPr/>
        </p:nvSpPr>
        <p:spPr>
          <a:xfrm>
            <a:off x="342986" y="3202686"/>
            <a:ext cx="3841441" cy="56235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UE blasted with UDP traffic</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exceeding uplink capacity.</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Simulates a DDoS overload.</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936 samples</a:t>
            </a:r>
            <a:endParaRPr sz="1100"/>
          </a:p>
        </p:txBody>
      </p:sp>
      <p:sp>
        <p:nvSpPr>
          <p:cNvPr id="357" name="Google Shape;357;p40"/>
          <p:cNvSpPr/>
          <p:nvPr/>
        </p:nvSpPr>
        <p:spPr>
          <a:xfrm>
            <a:off x="274389" y="3840480"/>
            <a:ext cx="3978635" cy="877824"/>
          </a:xfrm>
          <a:prstGeom prst="rect">
            <a:avLst/>
          </a:prstGeom>
          <a:solidFill>
            <a:srgbClr val="08081E"/>
          </a:solidFill>
          <a:ln cap="flat" cmpd="sng" w="19050">
            <a:solidFill>
              <a:srgbClr val="6A0DA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8" name="Google Shape;358;p40"/>
          <p:cNvSpPr/>
          <p:nvPr/>
        </p:nvSpPr>
        <p:spPr>
          <a:xfrm>
            <a:off x="274389" y="3840480"/>
            <a:ext cx="3978635" cy="260604"/>
          </a:xfrm>
          <a:prstGeom prst="rect">
            <a:avLst/>
          </a:prstGeom>
          <a:solidFill>
            <a:srgbClr val="6A0DAD"/>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9" name="Google Shape;359;p40"/>
          <p:cNvSpPr txBox="1"/>
          <p:nvPr/>
        </p:nvSpPr>
        <p:spPr>
          <a:xfrm>
            <a:off x="342986" y="3867912"/>
            <a:ext cx="3841441"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alibri"/>
                <a:ea typeface="Calibri"/>
                <a:cs typeface="Calibri"/>
                <a:sym typeface="Calibri"/>
              </a:rPr>
              <a:t>3 — Channel Degradation</a:t>
            </a:r>
            <a:endParaRPr sz="1100"/>
          </a:p>
        </p:txBody>
      </p:sp>
      <p:sp>
        <p:nvSpPr>
          <p:cNvPr id="360" name="Google Shape;360;p40"/>
          <p:cNvSpPr txBox="1"/>
          <p:nvPr/>
        </p:nvSpPr>
        <p:spPr>
          <a:xfrm>
            <a:off x="342986" y="4128516"/>
            <a:ext cx="3841441" cy="56235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RF impairments injected via</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the channel broker: fading,</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noise, burst drops.</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2,160 samples</a:t>
            </a:r>
            <a:endParaRPr sz="1100"/>
          </a:p>
        </p:txBody>
      </p:sp>
      <p:sp>
        <p:nvSpPr>
          <p:cNvPr id="361" name="Google Shape;361;p40"/>
          <p:cNvSpPr txBox="1"/>
          <p:nvPr/>
        </p:nvSpPr>
        <p:spPr>
          <a:xfrm>
            <a:off x="4458815" y="754380"/>
            <a:ext cx="4458815"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0C060"/>
                </a:solidFill>
                <a:latin typeface="Calibri"/>
                <a:ea typeface="Calibri"/>
                <a:cs typeface="Calibri"/>
                <a:sym typeface="Calibri"/>
              </a:rPr>
              <a:t>Features (19 per sample)</a:t>
            </a:r>
            <a:endParaRPr sz="1100"/>
          </a:p>
        </p:txBody>
      </p:sp>
      <p:sp>
        <p:nvSpPr>
          <p:cNvPr id="362" name="Google Shape;362;p40"/>
          <p:cNvSpPr/>
          <p:nvPr/>
        </p:nvSpPr>
        <p:spPr>
          <a:xfrm>
            <a:off x="4458815" y="1062990"/>
            <a:ext cx="4458815" cy="205740"/>
          </a:xfrm>
          <a:prstGeom prst="rect">
            <a:avLst/>
          </a:prstGeom>
          <a:solidFill>
            <a:srgbClr val="6A0DAD"/>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3" name="Google Shape;363;p40"/>
          <p:cNvSpPr txBox="1"/>
          <p:nvPr/>
        </p:nvSpPr>
        <p:spPr>
          <a:xfrm>
            <a:off x="4527413" y="1076706"/>
            <a:ext cx="4321621"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FFFF"/>
                </a:solidFill>
                <a:latin typeface="Calibri"/>
                <a:ea typeface="Calibri"/>
                <a:cs typeface="Calibri"/>
                <a:sym typeface="Calibri"/>
              </a:rPr>
              <a:t>Hook Latency (p99) — 8 features</a:t>
            </a:r>
            <a:endParaRPr sz="1100"/>
          </a:p>
        </p:txBody>
      </p:sp>
      <p:sp>
        <p:nvSpPr>
          <p:cNvPr id="364" name="Google Shape;364;p40"/>
          <p:cNvSpPr txBox="1"/>
          <p:nvPr/>
        </p:nvSpPr>
        <p:spPr>
          <a:xfrm>
            <a:off x="4458825" y="1282471"/>
            <a:ext cx="4458900" cy="15468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fapi_ul_tti_request p99 — worst-case execution time of the uplink slot scheduling function. The  </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key fault detector,  spikes to 7,000+ µs during scheduler faults</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 fapi_dl_tti_request p99 — worst-case execution time of the downlink slot scheduling function     </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 pdcp_ul_deliver_sdu p99 — worst-case time to deliver an uplink data unit to the layer above</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 pdcp_ul_rx_data_pdu p99 — worst-case time to receive and process an uplink data packet at PDCP   </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 rlc_ul_rx_pdu p99 — worst-case time to receive an uplink packet at the RLC layer                 </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 rlc_ul_sdu_delivered p99 — worst-case time to confirm uplink delivery from RLC to PDCP           </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 rlc_dl_tx_pdu p99 — worst-case time to transmit a downlink packet from RLC                       </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 fapi_ul_tti_request max — absolute maximum execution time of the uplink scheduler across the     </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entire measurement window. Catches single extreme spikes that p99 might average out                </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800">
                <a:solidFill>
                  <a:schemeClr val="lt1"/>
                </a:solidFill>
                <a:latin typeface="Calibri"/>
                <a:ea typeface="Calibri"/>
                <a:cs typeface="Calibri"/>
                <a:sym typeface="Calibri"/>
              </a:rPr>
              <a:t>                                                                                                  </a:t>
            </a:r>
            <a:endParaRPr sz="8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800">
              <a:solidFill>
                <a:schemeClr val="lt1"/>
              </a:solidFill>
              <a:latin typeface="Calibri"/>
              <a:ea typeface="Calibri"/>
              <a:cs typeface="Calibri"/>
              <a:sym typeface="Calibri"/>
            </a:endParaRPr>
          </a:p>
        </p:txBody>
      </p:sp>
      <p:sp>
        <p:nvSpPr>
          <p:cNvPr id="365" name="Google Shape;365;p40"/>
          <p:cNvSpPr/>
          <p:nvPr/>
        </p:nvSpPr>
        <p:spPr>
          <a:xfrm>
            <a:off x="4458815" y="2743200"/>
            <a:ext cx="4458815" cy="20574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6" name="Google Shape;366;p40"/>
          <p:cNvSpPr txBox="1"/>
          <p:nvPr/>
        </p:nvSpPr>
        <p:spPr>
          <a:xfrm>
            <a:off x="4527413" y="2756915"/>
            <a:ext cx="4321621"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FFFF"/>
                </a:solidFill>
                <a:latin typeface="Calibri"/>
                <a:ea typeface="Calibri"/>
                <a:cs typeface="Calibri"/>
                <a:sym typeface="Calibri"/>
              </a:rPr>
              <a:t>MAC / Radio — 8 features</a:t>
            </a:r>
            <a:endParaRPr sz="1100"/>
          </a:p>
        </p:txBody>
      </p:sp>
      <p:sp>
        <p:nvSpPr>
          <p:cNvPr id="367" name="Google Shape;367;p40"/>
          <p:cNvSpPr txBox="1"/>
          <p:nvPr/>
        </p:nvSpPr>
        <p:spPr>
          <a:xfrm>
            <a:off x="4458815" y="2962656"/>
            <a:ext cx="445881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  · harq_mcs_avg      — average modulation order</a:t>
            </a:r>
            <a:endParaRPr sz="1100"/>
          </a:p>
        </p:txBody>
      </p:sp>
      <p:sp>
        <p:nvSpPr>
          <p:cNvPr id="368" name="Google Shape;368;p40"/>
          <p:cNvSpPr txBox="1"/>
          <p:nvPr/>
        </p:nvSpPr>
        <p:spPr>
          <a:xfrm>
            <a:off x="4458815" y="3140964"/>
            <a:ext cx="445881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  · harq_mcs_min      — worst-slot modulation</a:t>
            </a:r>
            <a:endParaRPr sz="1100"/>
          </a:p>
        </p:txBody>
      </p:sp>
      <p:sp>
        <p:nvSpPr>
          <p:cNvPr id="369" name="Google Shape;369;p40"/>
          <p:cNvSpPr txBox="1"/>
          <p:nvPr/>
        </p:nvSpPr>
        <p:spPr>
          <a:xfrm>
            <a:off x="4458815" y="3319272"/>
            <a:ext cx="445881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  · harq_cons_retx    — consecutive retransmissions</a:t>
            </a:r>
            <a:endParaRPr sz="1100"/>
          </a:p>
        </p:txBody>
      </p:sp>
      <p:sp>
        <p:nvSpPr>
          <p:cNvPr id="370" name="Google Shape;370;p40"/>
          <p:cNvSpPr txBox="1"/>
          <p:nvPr/>
        </p:nvSpPr>
        <p:spPr>
          <a:xfrm>
            <a:off x="4458815" y="3497580"/>
            <a:ext cx="445881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  · harq_fail_rate    — HARQ failure rate</a:t>
            </a:r>
            <a:endParaRPr sz="1100"/>
          </a:p>
        </p:txBody>
      </p:sp>
      <p:sp>
        <p:nvSpPr>
          <p:cNvPr id="371" name="Google Shape;371;p40"/>
          <p:cNvSpPr txBox="1"/>
          <p:nvPr/>
        </p:nvSpPr>
        <p:spPr>
          <a:xfrm>
            <a:off x="4458815" y="3675888"/>
            <a:ext cx="445881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  · crc_sinr_avg      — average signal quality</a:t>
            </a:r>
            <a:endParaRPr sz="1100"/>
          </a:p>
        </p:txBody>
      </p:sp>
      <p:sp>
        <p:nvSpPr>
          <p:cNvPr id="372" name="Google Shape;372;p40"/>
          <p:cNvSpPr txBox="1"/>
          <p:nvPr/>
        </p:nvSpPr>
        <p:spPr>
          <a:xfrm>
            <a:off x="4458815" y="3854196"/>
            <a:ext cx="445881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  · crc_harq_fail     — CRC-level HARQ failures</a:t>
            </a:r>
            <a:endParaRPr sz="1100"/>
          </a:p>
        </p:txBody>
      </p:sp>
      <p:sp>
        <p:nvSpPr>
          <p:cNvPr id="373" name="Google Shape;373;p40"/>
          <p:cNvSpPr txBox="1"/>
          <p:nvPr/>
        </p:nvSpPr>
        <p:spPr>
          <a:xfrm>
            <a:off x="4458815" y="4032504"/>
            <a:ext cx="445881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  · crc_success_rate  — transmission success rate</a:t>
            </a:r>
            <a:endParaRPr sz="1100"/>
          </a:p>
        </p:txBody>
      </p:sp>
      <p:sp>
        <p:nvSpPr>
          <p:cNvPr id="374" name="Google Shape;374;p40"/>
          <p:cNvSpPr txBox="1"/>
          <p:nvPr/>
        </p:nvSpPr>
        <p:spPr>
          <a:xfrm>
            <a:off x="4458815" y="4210812"/>
            <a:ext cx="445881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  · bsr_kb            — UE uplink buffer size</a:t>
            </a:r>
            <a:endParaRPr sz="1100"/>
          </a:p>
        </p:txBody>
      </p:sp>
      <p:sp>
        <p:nvSpPr>
          <p:cNvPr id="375" name="Google Shape;375;p40"/>
          <p:cNvSpPr/>
          <p:nvPr/>
        </p:nvSpPr>
        <p:spPr>
          <a:xfrm>
            <a:off x="4458815" y="4402836"/>
            <a:ext cx="4458815" cy="205740"/>
          </a:xfrm>
          <a:prstGeom prst="rect">
            <a:avLst/>
          </a:prstGeom>
          <a:solidFill>
            <a:srgbClr val="1A8C8C"/>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6" name="Google Shape;376;p40"/>
          <p:cNvSpPr txBox="1"/>
          <p:nvPr/>
        </p:nvSpPr>
        <p:spPr>
          <a:xfrm>
            <a:off x="4527413" y="4416552"/>
            <a:ext cx="4321621"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FFFF"/>
                </a:solidFill>
                <a:latin typeface="Calibri"/>
                <a:ea typeface="Calibri"/>
                <a:cs typeface="Calibri"/>
                <a:sym typeface="Calibri"/>
              </a:rPr>
              <a:t>RLC Layer — 3 features</a:t>
            </a:r>
            <a:endParaRPr sz="1100"/>
          </a:p>
        </p:txBody>
      </p:sp>
      <p:sp>
        <p:nvSpPr>
          <p:cNvPr id="377" name="Google Shape;377;p40"/>
          <p:cNvSpPr txBox="1"/>
          <p:nvPr/>
        </p:nvSpPr>
        <p:spPr>
          <a:xfrm>
            <a:off x="4458815" y="4622292"/>
            <a:ext cx="445881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CCCDD"/>
                </a:solidFill>
                <a:latin typeface="Calibri"/>
                <a:ea typeface="Calibri"/>
                <a:cs typeface="Calibri"/>
                <a:sym typeface="Calibri"/>
              </a:rPr>
              <a:t>  · rlc_throughput_kb  · rlc_lat_avg_us  · rlc_lat_max_us</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381" name="Shape 381"/>
        <p:cNvGrpSpPr/>
        <p:nvPr/>
      </p:nvGrpSpPr>
      <p:grpSpPr>
        <a:xfrm>
          <a:off x="0" y="0"/>
          <a:ext cx="0" cy="0"/>
          <a:chOff x="0" y="0"/>
          <a:chExt cx="0" cy="0"/>
        </a:xfrm>
      </p:grpSpPr>
      <p:sp>
        <p:nvSpPr>
          <p:cNvPr id="382" name="Google Shape;382;p41"/>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3" name="Google Shape;383;p41"/>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The Core Result — Hook Latency Identifies Infrastructure Faults</a:t>
            </a:r>
            <a:endParaRPr sz="1100"/>
          </a:p>
        </p:txBody>
      </p:sp>
      <p:sp>
        <p:nvSpPr>
          <p:cNvPr id="384" name="Google Shape;384;p41"/>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pic>
        <p:nvPicPr>
          <p:cNvPr descr="screenshot_grafana2.png" id="385" name="Google Shape;385;p41"/>
          <p:cNvPicPr preferRelativeResize="0"/>
          <p:nvPr/>
        </p:nvPicPr>
        <p:blipFill rotWithShape="1">
          <a:blip r:embed="rId3">
            <a:alphaModFix/>
          </a:blip>
          <a:srcRect b="0" l="0" r="0" t="0"/>
          <a:stretch/>
        </p:blipFill>
        <p:spPr>
          <a:xfrm>
            <a:off x="205791" y="754380"/>
            <a:ext cx="5830759" cy="3566160"/>
          </a:xfrm>
          <a:prstGeom prst="rect">
            <a:avLst/>
          </a:prstGeom>
          <a:noFill/>
          <a:ln>
            <a:noFill/>
          </a:ln>
        </p:spPr>
      </p:pic>
      <p:sp>
        <p:nvSpPr>
          <p:cNvPr id="386" name="Google Shape;386;p41"/>
          <p:cNvSpPr txBox="1"/>
          <p:nvPr/>
        </p:nvSpPr>
        <p:spPr>
          <a:xfrm>
            <a:off x="6173744" y="822960"/>
            <a:ext cx="2812500" cy="38097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What happened:                                                                                     </a:t>
            </a:r>
            <a:endParaRPr sz="900">
              <a:solidFill>
                <a:srgbClr val="FFFFFF"/>
              </a:solidFill>
              <a:latin typeface="Calibri"/>
              <a:ea typeface="Calibri"/>
              <a:cs typeface="Calibri"/>
              <a:sym typeface="Calibri"/>
            </a:endParaRPr>
          </a:p>
          <a:p>
            <a:pPr indent="0" lvl="0" marL="0" rtl="0" algn="l">
              <a:spcBef>
                <a:spcPts val="0"/>
              </a:spcBef>
              <a:spcAft>
                <a:spcPts val="0"/>
              </a:spcAft>
              <a:buSzPts val="1100"/>
              <a:buNone/>
            </a:pPr>
            <a:r>
              <a:rPr lang="en-GB" sz="900">
                <a:solidFill>
                  <a:srgbClr val="FFFFFF"/>
                </a:solidFill>
                <a:latin typeface="Calibri"/>
                <a:ea typeface="Calibri"/>
                <a:cs typeface="Calibri"/>
                <a:sym typeface="Calibri"/>
              </a:rPr>
              <a:t>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I lowered the gNB's real-time CPU priority, simulating a misconfiguration in the OS. The base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station started missing its 1ms processing deadlines.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What standard metrics showed: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A small drop in data rate and a slight buffer build-up, easy to mistake for normal channel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variation. No indication anything was wrong with the software.</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What hook latency showed:</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The uplink scheduling function went from taking 6 µs to 7,289 µs, over 7 times the entire 1ms slot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budget. An unmistakable spike that could only come from a software stall, not a radio problem. The</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signal quality was completely unchanged throughout.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Why this matters:</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Without hook latency, this fault looks identical to mild fading. With it, the root cause is  immediately obvious.</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9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900">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390" name="Shape 390"/>
        <p:cNvGrpSpPr/>
        <p:nvPr/>
      </p:nvGrpSpPr>
      <p:grpSpPr>
        <a:xfrm>
          <a:off x="0" y="0"/>
          <a:ext cx="0" cy="0"/>
          <a:chOff x="0" y="0"/>
          <a:chExt cx="0" cy="0"/>
        </a:xfrm>
      </p:grpSpPr>
      <p:sp>
        <p:nvSpPr>
          <p:cNvPr id="391" name="Google Shape;391;p42"/>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2" name="Google Shape;392;p42"/>
          <p:cNvSpPr txBox="1"/>
          <p:nvPr/>
        </p:nvSpPr>
        <p:spPr>
          <a:xfrm>
            <a:off x="205791" y="54864"/>
            <a:ext cx="85746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In-Network Pre-Processing </a:t>
            </a:r>
            <a:endParaRPr sz="1100"/>
          </a:p>
        </p:txBody>
      </p:sp>
      <p:sp>
        <p:nvSpPr>
          <p:cNvPr id="393" name="Google Shape;393;p42"/>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pic>
        <p:nvPicPr>
          <p:cNvPr descr="screenshot_grafana1.png" id="394" name="Google Shape;394;p42"/>
          <p:cNvPicPr preferRelativeResize="0"/>
          <p:nvPr/>
        </p:nvPicPr>
        <p:blipFill rotWithShape="1">
          <a:blip r:embed="rId3">
            <a:alphaModFix/>
          </a:blip>
          <a:srcRect b="0" l="0" r="0" t="0"/>
          <a:stretch/>
        </p:blipFill>
        <p:spPr>
          <a:xfrm>
            <a:off x="205791" y="754380"/>
            <a:ext cx="5487773" cy="3771900"/>
          </a:xfrm>
          <a:prstGeom prst="rect">
            <a:avLst/>
          </a:prstGeom>
          <a:noFill/>
          <a:ln>
            <a:noFill/>
          </a:ln>
        </p:spPr>
      </p:pic>
      <p:sp>
        <p:nvSpPr>
          <p:cNvPr id="395" name="Google Shape;395;p42"/>
          <p:cNvSpPr txBox="1"/>
          <p:nvPr/>
        </p:nvSpPr>
        <p:spPr>
          <a:xfrm>
            <a:off x="5830759" y="822960"/>
            <a:ext cx="3155400" cy="42252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What was the goal: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Phase IV of the project plan required demonstrating that a jBPF codelet can do more than just collect raw data, but it can also perform computation directly inside the gNB. The task was to pick a codelet and implement two statistical algorithms inside it: a variance calculation and a sliding  window average.                                           </a:t>
            </a:r>
            <a:endParaRPr sz="900">
              <a:solidFill>
                <a:srgbClr val="FFFFFF"/>
              </a:solidFill>
              <a:latin typeface="Calibri"/>
              <a:ea typeface="Calibri"/>
              <a:cs typeface="Calibri"/>
              <a:sym typeface="Calibri"/>
            </a:endParaRPr>
          </a:p>
          <a:p>
            <a:pPr indent="0" lvl="0" marL="0" rtl="0" algn="l">
              <a:spcBef>
                <a:spcPts val="0"/>
              </a:spcBef>
              <a:spcAft>
                <a:spcPts val="0"/>
              </a:spcAft>
              <a:buSzPts val="1100"/>
              <a:buNone/>
            </a:pPr>
            <a:r>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What I built:</a:t>
            </a:r>
            <a:endParaRPr sz="900">
              <a:solidFill>
                <a:srgbClr val="FFFFFF"/>
              </a:solidFill>
              <a:latin typeface="Calibri"/>
              <a:ea typeface="Calibri"/>
              <a:cs typeface="Calibri"/>
              <a:sym typeface="Calibri"/>
            </a:endParaRPr>
          </a:p>
          <a:p>
            <a:pPr indent="0" lvl="0" marL="0" rtl="0" algn="l">
              <a:spcBef>
                <a:spcPts val="0"/>
              </a:spcBef>
              <a:spcAft>
                <a:spcPts val="0"/>
              </a:spcAft>
              <a:buSzPts val="1100"/>
              <a:buNone/>
            </a:pPr>
            <a:r>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A custom eBPF codelet written in C that hooks into the gNB at the exact moment each uplink  transmission is acknowledged. Every time a packet is received, the codelet runs two algorithms on the SINR value: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 Variance tracks how unstable the signal quality is over time, using a method that requires no  stored history.</a:t>
            </a:r>
            <a:endParaRPr sz="900">
              <a:solidFill>
                <a:srgbClr val="FFFFFF"/>
              </a:solidFill>
              <a:latin typeface="Calibri"/>
              <a:ea typeface="Calibri"/>
              <a:cs typeface="Calibri"/>
              <a:sym typeface="Calibri"/>
            </a:endParaRPr>
          </a:p>
          <a:p>
            <a:pPr indent="0" lvl="0" marL="0" rtl="0" algn="l">
              <a:spcBef>
                <a:spcPts val="0"/>
              </a:spcBef>
              <a:spcAft>
                <a:spcPts val="0"/>
              </a:spcAft>
              <a:buSzPts val="1100"/>
              <a:buNone/>
            </a:pPr>
            <a:r>
              <a:rPr lang="en-GB" sz="900">
                <a:solidFill>
                  <a:srgbClr val="FFFFFF"/>
                </a:solidFill>
                <a:latin typeface="Calibri"/>
                <a:ea typeface="Calibri"/>
                <a:cs typeface="Calibri"/>
                <a:sym typeface="Calibri"/>
              </a:rPr>
              <a:t>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Sliding average keeps a running average of the last 16 measurements using a circular buffer, updated in constant time.</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Why it matters:</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900">
                <a:solidFill>
                  <a:srgbClr val="FFFFFF"/>
                </a:solidFill>
                <a:latin typeface="Calibri"/>
                <a:ea typeface="Calibri"/>
                <a:cs typeface="Calibri"/>
                <a:sym typeface="Calibri"/>
              </a:rPr>
              <a:t>The computation happens inside the gNB at sub-millisecond speed, before any data leaves the machine. Instead of transmitting every individual SINR reading, only the average and variance are sent out, saving bandwidth. The results appear as two new panels in the Grafana dashboard, giving alive view of signal stability that did not exist before. </a:t>
            </a:r>
            <a:endParaRPr sz="9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9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900">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399" name="Shape 399"/>
        <p:cNvGrpSpPr/>
        <p:nvPr/>
      </p:nvGrpSpPr>
      <p:grpSpPr>
        <a:xfrm>
          <a:off x="0" y="0"/>
          <a:ext cx="0" cy="0"/>
          <a:chOff x="0" y="0"/>
          <a:chExt cx="0" cy="0"/>
        </a:xfrm>
      </p:grpSpPr>
      <p:sp>
        <p:nvSpPr>
          <p:cNvPr id="400" name="Google Shape;400;p43"/>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1" name="Google Shape;401;p43"/>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Progress vs 12-Week Plan</a:t>
            </a:r>
            <a:endParaRPr sz="1100"/>
          </a:p>
        </p:txBody>
      </p:sp>
      <p:sp>
        <p:nvSpPr>
          <p:cNvPr id="402" name="Google Shape;402;p43"/>
          <p:cNvSpPr txBox="1"/>
          <p:nvPr/>
        </p:nvSpPr>
        <p:spPr>
          <a:xfrm>
            <a:off x="205791" y="49377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403" name="Google Shape;403;p43"/>
          <p:cNvSpPr/>
          <p:nvPr/>
        </p:nvSpPr>
        <p:spPr>
          <a:xfrm>
            <a:off x="274389" y="788670"/>
            <a:ext cx="1646332" cy="2057400"/>
          </a:xfrm>
          <a:prstGeom prst="rect">
            <a:avLst/>
          </a:prstGeom>
          <a:solidFill>
            <a:srgbClr val="2E8B57"/>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4" name="Google Shape;404;p43"/>
          <p:cNvSpPr txBox="1"/>
          <p:nvPr/>
        </p:nvSpPr>
        <p:spPr>
          <a:xfrm>
            <a:off x="308687" y="822960"/>
            <a:ext cx="1577735" cy="8915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Phase I</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Wks 1–2</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Foundation</a:t>
            </a:r>
            <a:endParaRPr sz="1100"/>
          </a:p>
        </p:txBody>
      </p:sp>
      <p:sp>
        <p:nvSpPr>
          <p:cNvPr id="405" name="Google Shape;405;p43"/>
          <p:cNvSpPr txBox="1"/>
          <p:nvPr/>
        </p:nvSpPr>
        <p:spPr>
          <a:xfrm>
            <a:off x="308687" y="1714500"/>
            <a:ext cx="1577735"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800" u="none" cap="none" strike="noStrike">
                <a:solidFill>
                  <a:srgbClr val="CCCCDD"/>
                </a:solidFill>
                <a:latin typeface="Calibri"/>
                <a:ea typeface="Calibri"/>
                <a:cs typeface="Calibri"/>
                <a:sym typeface="Calibri"/>
              </a:rPr>
              <a:t>Setup 5G sim</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 ZMQ link</a:t>
            </a:r>
            <a:endParaRPr sz="1100"/>
          </a:p>
        </p:txBody>
      </p:sp>
      <p:sp>
        <p:nvSpPr>
          <p:cNvPr id="406" name="Google Shape;406;p43"/>
          <p:cNvSpPr/>
          <p:nvPr/>
        </p:nvSpPr>
        <p:spPr>
          <a:xfrm>
            <a:off x="480180" y="2640330"/>
            <a:ext cx="1234749" cy="240030"/>
          </a:xfrm>
          <a:prstGeom prst="rect">
            <a:avLst/>
          </a:prstGeom>
          <a:solidFill>
            <a:srgbClr val="2E8B57"/>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DONE</a:t>
            </a:r>
            <a:endParaRPr sz="1100"/>
          </a:p>
        </p:txBody>
      </p:sp>
      <p:sp>
        <p:nvSpPr>
          <p:cNvPr id="407" name="Google Shape;407;p43"/>
          <p:cNvSpPr/>
          <p:nvPr/>
        </p:nvSpPr>
        <p:spPr>
          <a:xfrm>
            <a:off x="2023615" y="788670"/>
            <a:ext cx="1646332" cy="2057400"/>
          </a:xfrm>
          <a:prstGeom prst="rect">
            <a:avLst/>
          </a:prstGeom>
          <a:solidFill>
            <a:srgbClr val="2E8B57"/>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8" name="Google Shape;408;p43"/>
          <p:cNvSpPr txBox="1"/>
          <p:nvPr/>
        </p:nvSpPr>
        <p:spPr>
          <a:xfrm>
            <a:off x="2057914" y="822960"/>
            <a:ext cx="1577735" cy="8915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Phase II</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Wks 3–5</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Corelets</a:t>
            </a:r>
            <a:endParaRPr sz="1100"/>
          </a:p>
        </p:txBody>
      </p:sp>
      <p:sp>
        <p:nvSpPr>
          <p:cNvPr id="409" name="Google Shape;409;p43"/>
          <p:cNvSpPr txBox="1"/>
          <p:nvPr/>
        </p:nvSpPr>
        <p:spPr>
          <a:xfrm>
            <a:off x="2057914" y="1714500"/>
            <a:ext cx="1577735"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800" u="none" cap="none" strike="noStrike">
                <a:solidFill>
                  <a:srgbClr val="CCCCDD"/>
                </a:solidFill>
                <a:latin typeface="Calibri"/>
                <a:ea typeface="Calibri"/>
                <a:cs typeface="Calibri"/>
                <a:sym typeface="Calibri"/>
              </a:rPr>
              <a:t>22 hooks</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17 schemas</a:t>
            </a:r>
            <a:endParaRPr sz="1100"/>
          </a:p>
        </p:txBody>
      </p:sp>
      <p:sp>
        <p:nvSpPr>
          <p:cNvPr id="410" name="Google Shape;410;p43"/>
          <p:cNvSpPr/>
          <p:nvPr/>
        </p:nvSpPr>
        <p:spPr>
          <a:xfrm>
            <a:off x="2229407" y="2640330"/>
            <a:ext cx="1234749" cy="240030"/>
          </a:xfrm>
          <a:prstGeom prst="rect">
            <a:avLst/>
          </a:prstGeom>
          <a:solidFill>
            <a:srgbClr val="2E8B57"/>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DONE</a:t>
            </a:r>
            <a:endParaRPr sz="1100"/>
          </a:p>
        </p:txBody>
      </p:sp>
      <p:sp>
        <p:nvSpPr>
          <p:cNvPr id="411" name="Google Shape;411;p43"/>
          <p:cNvSpPr/>
          <p:nvPr/>
        </p:nvSpPr>
        <p:spPr>
          <a:xfrm>
            <a:off x="3772844" y="788670"/>
            <a:ext cx="1646332" cy="2057400"/>
          </a:xfrm>
          <a:prstGeom prst="rect">
            <a:avLst/>
          </a:prstGeom>
          <a:solidFill>
            <a:srgbClr val="2E8B57"/>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2" name="Google Shape;412;p43"/>
          <p:cNvSpPr txBox="1"/>
          <p:nvPr/>
        </p:nvSpPr>
        <p:spPr>
          <a:xfrm>
            <a:off x="3807142" y="822960"/>
            <a:ext cx="1577735" cy="8915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Phase III</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Wks 6–7</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Evaluation</a:t>
            </a:r>
            <a:endParaRPr sz="1100"/>
          </a:p>
        </p:txBody>
      </p:sp>
      <p:sp>
        <p:nvSpPr>
          <p:cNvPr id="413" name="Google Shape;413;p43"/>
          <p:cNvSpPr txBox="1"/>
          <p:nvPr/>
        </p:nvSpPr>
        <p:spPr>
          <a:xfrm>
            <a:off x="3807142" y="1714500"/>
            <a:ext cx="1577735"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800" u="none" cap="none" strike="noStrike">
                <a:solidFill>
                  <a:srgbClr val="CCCCDD"/>
                </a:solidFill>
                <a:latin typeface="Calibri"/>
                <a:ea typeface="Calibri"/>
                <a:cs typeface="Calibri"/>
                <a:sym typeface="Calibri"/>
              </a:rPr>
              <a:t>Dashboard</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Comparison</a:t>
            </a:r>
            <a:endParaRPr sz="1100"/>
          </a:p>
        </p:txBody>
      </p:sp>
      <p:sp>
        <p:nvSpPr>
          <p:cNvPr id="414" name="Google Shape;414;p43"/>
          <p:cNvSpPr/>
          <p:nvPr/>
        </p:nvSpPr>
        <p:spPr>
          <a:xfrm>
            <a:off x="3978635" y="2640330"/>
            <a:ext cx="1234749" cy="240030"/>
          </a:xfrm>
          <a:prstGeom prst="rect">
            <a:avLst/>
          </a:prstGeom>
          <a:solidFill>
            <a:srgbClr val="2E8B57"/>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DONE</a:t>
            </a:r>
            <a:endParaRPr sz="1100"/>
          </a:p>
        </p:txBody>
      </p:sp>
      <p:sp>
        <p:nvSpPr>
          <p:cNvPr id="415" name="Google Shape;415;p43"/>
          <p:cNvSpPr/>
          <p:nvPr/>
        </p:nvSpPr>
        <p:spPr>
          <a:xfrm>
            <a:off x="5522071" y="788670"/>
            <a:ext cx="1646332" cy="2057400"/>
          </a:xfrm>
          <a:prstGeom prst="rect">
            <a:avLst/>
          </a:prstGeom>
          <a:solidFill>
            <a:srgbClr val="2E8B57"/>
          </a:solidFill>
          <a:ln cap="flat" cmpd="sng" w="19050">
            <a:solidFill>
              <a:srgbClr val="2E8B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6" name="Google Shape;416;p43"/>
          <p:cNvSpPr txBox="1"/>
          <p:nvPr/>
        </p:nvSpPr>
        <p:spPr>
          <a:xfrm>
            <a:off x="5556370" y="822960"/>
            <a:ext cx="1577735" cy="8915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Phase IV</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Wks 8–9</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Extension</a:t>
            </a:r>
            <a:endParaRPr sz="1100"/>
          </a:p>
        </p:txBody>
      </p:sp>
      <p:sp>
        <p:nvSpPr>
          <p:cNvPr id="417" name="Google Shape;417;p43"/>
          <p:cNvSpPr txBox="1"/>
          <p:nvPr/>
        </p:nvSpPr>
        <p:spPr>
          <a:xfrm>
            <a:off x="5556370" y="1714500"/>
            <a:ext cx="1577735"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800" u="none" cap="none" strike="noStrike">
                <a:solidFill>
                  <a:srgbClr val="CCCCDD"/>
                </a:solidFill>
                <a:latin typeface="Calibri"/>
                <a:ea typeface="Calibri"/>
                <a:cs typeface="Calibri"/>
                <a:sym typeface="Calibri"/>
              </a:rPr>
              <a:t>Codelet math</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AI datasets</a:t>
            </a:r>
            <a:endParaRPr sz="1100"/>
          </a:p>
        </p:txBody>
      </p:sp>
      <p:sp>
        <p:nvSpPr>
          <p:cNvPr id="418" name="Google Shape;418;p43"/>
          <p:cNvSpPr/>
          <p:nvPr/>
        </p:nvSpPr>
        <p:spPr>
          <a:xfrm>
            <a:off x="5727863" y="2640330"/>
            <a:ext cx="1234749" cy="240030"/>
          </a:xfrm>
          <a:prstGeom prst="rect">
            <a:avLst/>
          </a:prstGeom>
          <a:solidFill>
            <a:srgbClr val="2E8B57"/>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DONE</a:t>
            </a:r>
            <a:endParaRPr sz="1100"/>
          </a:p>
        </p:txBody>
      </p:sp>
      <p:sp>
        <p:nvSpPr>
          <p:cNvPr id="419" name="Google Shape;419;p43"/>
          <p:cNvSpPr/>
          <p:nvPr/>
        </p:nvSpPr>
        <p:spPr>
          <a:xfrm>
            <a:off x="7271299" y="788670"/>
            <a:ext cx="1646332" cy="2057400"/>
          </a:xfrm>
          <a:prstGeom prst="rect">
            <a:avLst/>
          </a:prstGeom>
          <a:solidFill>
            <a:srgbClr val="2A2A0A"/>
          </a:solidFill>
          <a:ln cap="flat" cmpd="sng" w="19050">
            <a:solidFill>
              <a:srgbClr val="F0C0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20" name="Google Shape;420;p43"/>
          <p:cNvSpPr txBox="1"/>
          <p:nvPr/>
        </p:nvSpPr>
        <p:spPr>
          <a:xfrm>
            <a:off x="7305598" y="822960"/>
            <a:ext cx="1577735" cy="8915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Phase V</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Wks 10–12</a:t>
            </a:r>
            <a:br>
              <a:rPr b="1" i="0" lang="en-GB" sz="900" u="none" cap="none" strike="noStrike">
                <a:solidFill>
                  <a:srgbClr val="FFFFFF"/>
                </a:solidFill>
                <a:latin typeface="Calibri"/>
                <a:ea typeface="Calibri"/>
                <a:cs typeface="Calibri"/>
                <a:sym typeface="Calibri"/>
              </a:rPr>
            </a:br>
            <a:r>
              <a:rPr b="1" i="0" lang="en-GB" sz="900" u="none" cap="none" strike="noStrike">
                <a:solidFill>
                  <a:srgbClr val="FFFFFF"/>
                </a:solidFill>
                <a:latin typeface="Calibri"/>
                <a:ea typeface="Calibri"/>
                <a:cs typeface="Calibri"/>
                <a:sym typeface="Calibri"/>
              </a:rPr>
              <a:t>Conclusion</a:t>
            </a:r>
            <a:endParaRPr sz="1100"/>
          </a:p>
        </p:txBody>
      </p:sp>
      <p:sp>
        <p:nvSpPr>
          <p:cNvPr id="421" name="Google Shape;421;p43"/>
          <p:cNvSpPr txBox="1"/>
          <p:nvPr/>
        </p:nvSpPr>
        <p:spPr>
          <a:xfrm>
            <a:off x="7305598" y="1714500"/>
            <a:ext cx="1577735"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800" u="none" cap="none" strike="noStrike">
                <a:solidFill>
                  <a:srgbClr val="CCCCDD"/>
                </a:solidFill>
                <a:latin typeface="Calibri"/>
                <a:ea typeface="Calibri"/>
                <a:cs typeface="Calibri"/>
                <a:sym typeface="Calibri"/>
              </a:rPr>
              <a:t>Validation</a:t>
            </a:r>
            <a:br>
              <a:rPr b="0" i="0" lang="en-GB" sz="800" u="none" cap="none" strike="noStrike">
                <a:solidFill>
                  <a:srgbClr val="CCCCDD"/>
                </a:solidFill>
                <a:latin typeface="Calibri"/>
                <a:ea typeface="Calibri"/>
                <a:cs typeface="Calibri"/>
                <a:sym typeface="Calibri"/>
              </a:rPr>
            </a:br>
            <a:r>
              <a:rPr b="0" i="0" lang="en-GB" sz="800" u="none" cap="none" strike="noStrike">
                <a:solidFill>
                  <a:srgbClr val="CCCCDD"/>
                </a:solidFill>
                <a:latin typeface="Calibri"/>
                <a:ea typeface="Calibri"/>
                <a:cs typeface="Calibri"/>
                <a:sym typeface="Calibri"/>
              </a:rPr>
              <a:t>Thesis writing</a:t>
            </a:r>
            <a:endParaRPr sz="1100"/>
          </a:p>
        </p:txBody>
      </p:sp>
      <p:sp>
        <p:nvSpPr>
          <p:cNvPr id="422" name="Google Shape;422;p43"/>
          <p:cNvSpPr/>
          <p:nvPr/>
        </p:nvSpPr>
        <p:spPr>
          <a:xfrm>
            <a:off x="7477090" y="2640330"/>
            <a:ext cx="1234749" cy="240030"/>
          </a:xfrm>
          <a:prstGeom prst="rect">
            <a:avLst/>
          </a:prstGeom>
          <a:solidFill>
            <a:srgbClr val="F0C060"/>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1" i="0" lang="en-GB" sz="900" u="none" cap="none" strike="noStrike">
                <a:solidFill>
                  <a:srgbClr val="FFFFFF"/>
                </a:solidFill>
                <a:latin typeface="Calibri"/>
                <a:ea typeface="Calibri"/>
                <a:cs typeface="Calibri"/>
                <a:sym typeface="Calibri"/>
              </a:rPr>
              <a:t>IN PROG</a:t>
            </a:r>
            <a:endParaRPr sz="1100"/>
          </a:p>
        </p:txBody>
      </p:sp>
      <p:sp>
        <p:nvSpPr>
          <p:cNvPr id="423" name="Google Shape;423;p43"/>
          <p:cNvSpPr txBox="1"/>
          <p:nvPr/>
        </p:nvSpPr>
        <p:spPr>
          <a:xfrm>
            <a:off x="274389" y="3017520"/>
            <a:ext cx="8574645"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FFFFFF"/>
                </a:solidFill>
                <a:latin typeface="Calibri"/>
                <a:ea typeface="Calibri"/>
                <a:cs typeface="Calibri"/>
                <a:sym typeface="Calibri"/>
              </a:rPr>
              <a:t>Deliverables</a:t>
            </a:r>
            <a:endParaRPr sz="1100"/>
          </a:p>
        </p:txBody>
      </p:sp>
      <p:sp>
        <p:nvSpPr>
          <p:cNvPr id="424" name="Google Shape;424;p43"/>
          <p:cNvSpPr txBox="1"/>
          <p:nvPr/>
        </p:nvSpPr>
        <p:spPr>
          <a:xfrm>
            <a:off x="274389" y="3326130"/>
            <a:ext cx="432162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2E8B57"/>
                </a:solidFill>
                <a:latin typeface="Calibri"/>
                <a:ea typeface="Calibri"/>
                <a:cs typeface="Calibri"/>
                <a:sym typeface="Calibri"/>
              </a:rPr>
              <a:t>✓  Source code (codelets, scripts, pipeline)</a:t>
            </a:r>
            <a:endParaRPr sz="1100"/>
          </a:p>
        </p:txBody>
      </p:sp>
      <p:sp>
        <p:nvSpPr>
          <p:cNvPr id="425" name="Google Shape;425;p43"/>
          <p:cNvSpPr txBox="1"/>
          <p:nvPr/>
        </p:nvSpPr>
        <p:spPr>
          <a:xfrm>
            <a:off x="274389" y="3614166"/>
            <a:ext cx="432162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2E8B57"/>
                </a:solidFill>
                <a:latin typeface="Calibri"/>
                <a:ea typeface="Calibri"/>
                <a:cs typeface="Calibri"/>
                <a:sym typeface="Calibri"/>
              </a:rPr>
              <a:t>✓  AI-ready datasets (CSV + HDF5, 5 621 samples)</a:t>
            </a:r>
            <a:endParaRPr sz="1100"/>
          </a:p>
        </p:txBody>
      </p:sp>
      <p:sp>
        <p:nvSpPr>
          <p:cNvPr id="426" name="Google Shape;426;p43"/>
          <p:cNvSpPr txBox="1"/>
          <p:nvPr/>
        </p:nvSpPr>
        <p:spPr>
          <a:xfrm>
            <a:off x="274389" y="3902202"/>
            <a:ext cx="432162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2E8B57"/>
                </a:solidFill>
                <a:latin typeface="Calibri"/>
                <a:ea typeface="Calibri"/>
                <a:cs typeface="Calibri"/>
                <a:sym typeface="Calibri"/>
              </a:rPr>
              <a:t>✓  Setup guide and all documentation</a:t>
            </a:r>
            <a:endParaRPr sz="1100"/>
          </a:p>
        </p:txBody>
      </p:sp>
      <p:sp>
        <p:nvSpPr>
          <p:cNvPr id="427" name="Google Shape;427;p43"/>
          <p:cNvSpPr txBox="1"/>
          <p:nvPr/>
        </p:nvSpPr>
        <p:spPr>
          <a:xfrm>
            <a:off x="274389" y="4190237"/>
            <a:ext cx="432162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2E8B57"/>
                </a:solidFill>
                <a:latin typeface="Calibri"/>
                <a:ea typeface="Calibri"/>
                <a:cs typeface="Calibri"/>
                <a:sym typeface="Calibri"/>
              </a:rPr>
              <a:t>✓  Anomaly collection report (35 scenarios)</a:t>
            </a:r>
            <a:endParaRPr sz="1100"/>
          </a:p>
        </p:txBody>
      </p:sp>
      <p:sp>
        <p:nvSpPr>
          <p:cNvPr id="428" name="Google Shape;428;p43"/>
          <p:cNvSpPr txBox="1"/>
          <p:nvPr/>
        </p:nvSpPr>
        <p:spPr>
          <a:xfrm>
            <a:off x="4733204" y="3326130"/>
            <a:ext cx="432162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2E8B57"/>
                </a:solidFill>
                <a:latin typeface="Calibri"/>
                <a:ea typeface="Calibri"/>
                <a:cs typeface="Calibri"/>
                <a:sym typeface="Calibri"/>
              </a:rPr>
              <a:t>✓  Janus vs Standard comparison (live data)</a:t>
            </a:r>
            <a:endParaRPr sz="1100"/>
          </a:p>
        </p:txBody>
      </p:sp>
      <p:sp>
        <p:nvSpPr>
          <p:cNvPr id="429" name="Google Shape;429;p43"/>
          <p:cNvSpPr txBox="1"/>
          <p:nvPr/>
        </p:nvSpPr>
        <p:spPr>
          <a:xfrm>
            <a:off x="4733204" y="3614166"/>
            <a:ext cx="432162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2E8B57"/>
                </a:solidFill>
                <a:latin typeface="Calibri"/>
                <a:ea typeface="Calibri"/>
                <a:cs typeface="Calibri"/>
                <a:sym typeface="Calibri"/>
              </a:rPr>
              <a:t>✓  Custom codelet documentation</a:t>
            </a:r>
            <a:endParaRPr sz="1100"/>
          </a:p>
        </p:txBody>
      </p:sp>
      <p:sp>
        <p:nvSpPr>
          <p:cNvPr id="430" name="Google Shape;430;p43"/>
          <p:cNvSpPr txBox="1"/>
          <p:nvPr/>
        </p:nvSpPr>
        <p:spPr>
          <a:xfrm>
            <a:off x="4733204" y="3902202"/>
            <a:ext cx="432162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88888"/>
                </a:solidFill>
                <a:latin typeface="Calibri"/>
                <a:ea typeface="Calibri"/>
                <a:cs typeface="Calibri"/>
                <a:sym typeface="Calibri"/>
              </a:rPr>
              <a:t>○  Bachelor Thesis Report</a:t>
            </a:r>
            <a:endParaRPr sz="1100"/>
          </a:p>
        </p:txBody>
      </p:sp>
      <p:sp>
        <p:nvSpPr>
          <p:cNvPr id="431" name="Google Shape;431;p43"/>
          <p:cNvSpPr txBox="1"/>
          <p:nvPr/>
        </p:nvSpPr>
        <p:spPr>
          <a:xfrm>
            <a:off x="4733204" y="4190237"/>
            <a:ext cx="432162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88888"/>
                </a:solidFill>
                <a:latin typeface="Calibri"/>
                <a:ea typeface="Calibri"/>
                <a:cs typeface="Calibri"/>
                <a:sym typeface="Calibri"/>
              </a:rPr>
              <a:t>○  Final presentation</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435" name="Shape 435"/>
        <p:cNvGrpSpPr/>
        <p:nvPr/>
      </p:nvGrpSpPr>
      <p:grpSpPr>
        <a:xfrm>
          <a:off x="0" y="0"/>
          <a:ext cx="0" cy="0"/>
          <a:chOff x="0" y="0"/>
          <a:chExt cx="0" cy="0"/>
        </a:xfrm>
      </p:grpSpPr>
      <p:sp>
        <p:nvSpPr>
          <p:cNvPr id="436" name="Google Shape;436;p44"/>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7" name="Google Shape;437;p44"/>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Remaining Work — Phase V</a:t>
            </a:r>
            <a:endParaRPr sz="1100"/>
          </a:p>
        </p:txBody>
      </p:sp>
      <p:sp>
        <p:nvSpPr>
          <p:cNvPr id="438" name="Google Shape;438;p44"/>
          <p:cNvSpPr txBox="1"/>
          <p:nvPr/>
        </p:nvSpPr>
        <p:spPr>
          <a:xfrm>
            <a:off x="274389" y="822960"/>
            <a:ext cx="4458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439" name="Google Shape;439;p44"/>
          <p:cNvSpPr/>
          <p:nvPr/>
        </p:nvSpPr>
        <p:spPr>
          <a:xfrm>
            <a:off x="-32" y="822950"/>
            <a:ext cx="8917500" cy="3771900"/>
          </a:xfrm>
          <a:prstGeom prst="rect">
            <a:avLst/>
          </a:prstGeom>
          <a:solidFill>
            <a:srgbClr val="10102A"/>
          </a:solidFill>
          <a:ln cap="flat" cmpd="sng" w="19050">
            <a:solidFill>
              <a:srgbClr val="1A6FA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0" name="Google Shape;440;p44"/>
          <p:cNvSpPr txBox="1"/>
          <p:nvPr/>
        </p:nvSpPr>
        <p:spPr>
          <a:xfrm>
            <a:off x="-17" y="823715"/>
            <a:ext cx="3909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0C060"/>
                </a:solidFill>
                <a:latin typeface="Calibri"/>
                <a:ea typeface="Calibri"/>
                <a:cs typeface="Calibri"/>
                <a:sym typeface="Calibri"/>
              </a:rPr>
              <a:t>Hardware (USRP) Bonus</a:t>
            </a:r>
            <a:endParaRPr sz="1100"/>
          </a:p>
        </p:txBody>
      </p:sp>
      <p:sp>
        <p:nvSpPr>
          <p:cNvPr id="441" name="Google Shape;441;p44"/>
          <p:cNvSpPr txBox="1"/>
          <p:nvPr/>
        </p:nvSpPr>
        <p:spPr>
          <a:xfrm>
            <a:off x="-15" y="1200150"/>
            <a:ext cx="8780400" cy="1316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Project plan explicitly designs for ZMQ simulation.</a:t>
            </a:r>
            <a:endParaRPr sz="1100"/>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Hardware (USRP B210/X310) is optional bonus only.</a:t>
            </a:r>
            <a:endParaRPr sz="1100"/>
          </a:p>
          <a:p>
            <a:pPr indent="0" lvl="0" marL="0" marR="0" rtl="0" algn="l">
              <a:spcBef>
                <a:spcPts val="0"/>
              </a:spcBef>
              <a:spcAft>
                <a:spcPts val="0"/>
              </a:spcAft>
              <a:buNone/>
            </a:pPr>
            <a:r>
              <a:t/>
            </a:r>
            <a:endParaRPr b="0" i="0" sz="900" u="none" cap="none" strike="noStrike">
              <a:solidFill>
                <a:srgbClr val="FFFFFF"/>
              </a:solidFill>
              <a:latin typeface="Calibri"/>
              <a:ea typeface="Calibri"/>
              <a:cs typeface="Calibri"/>
              <a:sym typeface="Calibri"/>
            </a:endParaRPr>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If time permits after thesis draft:</a:t>
            </a:r>
            <a:endParaRPr sz="1100"/>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  • Replace ZMQ with real USRP radio</a:t>
            </a:r>
            <a:endParaRPr sz="1100"/>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  • Run codelets on live air interface</a:t>
            </a:r>
            <a:endParaRPr sz="1100"/>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  • Compare simulated vs real-world hook latency</a:t>
            </a:r>
            <a:endParaRPr sz="1100"/>
          </a:p>
          <a:p>
            <a:pPr indent="0" lvl="0" marL="0" marR="0" rtl="0" algn="l">
              <a:spcBef>
                <a:spcPts val="0"/>
              </a:spcBef>
              <a:spcAft>
                <a:spcPts val="0"/>
              </a:spcAft>
              <a:buNone/>
            </a:pPr>
            <a:r>
              <a:t/>
            </a:r>
            <a:endParaRPr b="0" i="0" sz="900" u="none" cap="none" strike="noStrike">
              <a:solidFill>
                <a:srgbClr val="FFFFFF"/>
              </a:solidFill>
              <a:latin typeface="Calibri"/>
              <a:ea typeface="Calibri"/>
              <a:cs typeface="Calibri"/>
              <a:sym typeface="Calibri"/>
            </a:endParaRPr>
          </a:p>
          <a:p>
            <a:pPr indent="0" lvl="0" marL="0" marR="0" rtl="0" algn="l">
              <a:spcBef>
                <a:spcPts val="0"/>
              </a:spcBef>
              <a:spcAft>
                <a:spcPts val="0"/>
              </a:spcAft>
              <a:buNone/>
            </a:pPr>
            <a:r>
              <a:rPr b="0" i="0" lang="en-GB" sz="900" u="none" cap="none" strike="noStrike">
                <a:solidFill>
                  <a:srgbClr val="FFFFFF"/>
                </a:solidFill>
                <a:latin typeface="Calibri"/>
                <a:ea typeface="Calibri"/>
                <a:cs typeface="Calibri"/>
                <a:sym typeface="Calibri"/>
              </a:rPr>
              <a:t>Risk mitigation: do NOT attempt if it jeopardises the report deadline.</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3A"/>
        </a:solidFill>
      </p:bgPr>
    </p:bg>
    <p:spTree>
      <p:nvGrpSpPr>
        <p:cNvPr id="445" name="Shape 445"/>
        <p:cNvGrpSpPr/>
        <p:nvPr/>
      </p:nvGrpSpPr>
      <p:grpSpPr>
        <a:xfrm>
          <a:off x="0" y="0"/>
          <a:ext cx="0" cy="0"/>
          <a:chOff x="0" y="0"/>
          <a:chExt cx="0" cy="0"/>
        </a:xfrm>
      </p:grpSpPr>
      <p:sp>
        <p:nvSpPr>
          <p:cNvPr id="446" name="Google Shape;446;p45"/>
          <p:cNvSpPr/>
          <p:nvPr/>
        </p:nvSpPr>
        <p:spPr>
          <a:xfrm>
            <a:off x="0" y="0"/>
            <a:ext cx="9144002" cy="68580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7" name="Google Shape;447;p45"/>
          <p:cNvSpPr txBox="1"/>
          <p:nvPr/>
        </p:nvSpPr>
        <p:spPr>
          <a:xfrm>
            <a:off x="205791" y="54864"/>
            <a:ext cx="8574645"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FFFFFF"/>
                </a:solidFill>
                <a:latin typeface="Calibri"/>
                <a:ea typeface="Calibri"/>
                <a:cs typeface="Calibri"/>
                <a:sym typeface="Calibri"/>
              </a:rPr>
              <a:t>Summary of Contributions</a:t>
            </a:r>
            <a:endParaRPr sz="1100"/>
          </a:p>
        </p:txBody>
      </p:sp>
      <p:sp>
        <p:nvSpPr>
          <p:cNvPr id="448" name="Google Shape;448;p45"/>
          <p:cNvSpPr/>
          <p:nvPr/>
        </p:nvSpPr>
        <p:spPr>
          <a:xfrm>
            <a:off x="205791" y="754380"/>
            <a:ext cx="54878" cy="514350"/>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9" name="Google Shape;449;p45"/>
          <p:cNvSpPr txBox="1"/>
          <p:nvPr/>
        </p:nvSpPr>
        <p:spPr>
          <a:xfrm>
            <a:off x="205836" y="878592"/>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Calibri"/>
                <a:ea typeface="Calibri"/>
                <a:cs typeface="Calibri"/>
                <a:sym typeface="Calibri"/>
              </a:rPr>
              <a:t>1. Full 5G Telemetry Pipeline</a:t>
            </a:r>
            <a:endParaRPr sz="1100"/>
          </a:p>
        </p:txBody>
      </p:sp>
      <p:sp>
        <p:nvSpPr>
          <p:cNvPr id="450" name="Google Shape;450;p45"/>
          <p:cNvSpPr/>
          <p:nvPr/>
        </p:nvSpPr>
        <p:spPr>
          <a:xfrm>
            <a:off x="205791" y="1426464"/>
            <a:ext cx="54878" cy="514350"/>
          </a:xfrm>
          <a:prstGeom prst="rect">
            <a:avLst/>
          </a:prstGeom>
          <a:solidFill>
            <a:srgbClr val="8B691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1" name="Google Shape;451;p45"/>
          <p:cNvSpPr txBox="1"/>
          <p:nvPr/>
        </p:nvSpPr>
        <p:spPr>
          <a:xfrm>
            <a:off x="205823" y="1564377"/>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Calibri"/>
                <a:ea typeface="Calibri"/>
                <a:cs typeface="Calibri"/>
                <a:sym typeface="Calibri"/>
              </a:rPr>
              <a:t>2. ZMQ Channel Broker</a:t>
            </a:r>
            <a:endParaRPr sz="1100"/>
          </a:p>
        </p:txBody>
      </p:sp>
      <p:sp>
        <p:nvSpPr>
          <p:cNvPr id="452" name="Google Shape;452;p45"/>
          <p:cNvSpPr/>
          <p:nvPr/>
        </p:nvSpPr>
        <p:spPr>
          <a:xfrm>
            <a:off x="205791" y="2098548"/>
            <a:ext cx="54878" cy="514350"/>
          </a:xfrm>
          <a:prstGeom prst="rect">
            <a:avLst/>
          </a:prstGeom>
          <a:solidFill>
            <a:srgbClr val="6A0DAD"/>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3" name="Google Shape;453;p45"/>
          <p:cNvSpPr txBox="1"/>
          <p:nvPr/>
        </p:nvSpPr>
        <p:spPr>
          <a:xfrm>
            <a:off x="205823" y="2218561"/>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Calibri"/>
                <a:ea typeface="Calibri"/>
                <a:cs typeface="Calibri"/>
                <a:sym typeface="Calibri"/>
              </a:rPr>
              <a:t>3. Baremetal Installation</a:t>
            </a:r>
            <a:endParaRPr sz="1100"/>
          </a:p>
        </p:txBody>
      </p:sp>
      <p:sp>
        <p:nvSpPr>
          <p:cNvPr id="454" name="Google Shape;454;p45"/>
          <p:cNvSpPr/>
          <p:nvPr/>
        </p:nvSpPr>
        <p:spPr>
          <a:xfrm>
            <a:off x="205791" y="2770632"/>
            <a:ext cx="54878" cy="514350"/>
          </a:xfrm>
          <a:prstGeom prst="rect">
            <a:avLst/>
          </a:prstGeom>
          <a:solidFill>
            <a:srgbClr val="2E8B57"/>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5" name="Google Shape;455;p45"/>
          <p:cNvSpPr txBox="1"/>
          <p:nvPr/>
        </p:nvSpPr>
        <p:spPr>
          <a:xfrm>
            <a:off x="205836" y="3580645"/>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Calibri"/>
                <a:ea typeface="Calibri"/>
                <a:cs typeface="Calibri"/>
                <a:sym typeface="Calibri"/>
              </a:rPr>
              <a:t>4. Two Labelled AI-Ready Datasets</a:t>
            </a:r>
            <a:endParaRPr sz="1100"/>
          </a:p>
        </p:txBody>
      </p:sp>
      <p:sp>
        <p:nvSpPr>
          <p:cNvPr id="456" name="Google Shape;456;p45"/>
          <p:cNvSpPr/>
          <p:nvPr/>
        </p:nvSpPr>
        <p:spPr>
          <a:xfrm>
            <a:off x="205791" y="3442716"/>
            <a:ext cx="54878" cy="514350"/>
          </a:xfrm>
          <a:prstGeom prst="rect">
            <a:avLst/>
          </a:prstGeom>
          <a:solidFill>
            <a:srgbClr val="B2222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7" name="Google Shape;457;p45"/>
          <p:cNvSpPr txBox="1"/>
          <p:nvPr/>
        </p:nvSpPr>
        <p:spPr>
          <a:xfrm>
            <a:off x="205836" y="2908566"/>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FFFF"/>
                </a:solidFill>
                <a:latin typeface="Calibri"/>
                <a:ea typeface="Calibri"/>
                <a:cs typeface="Calibri"/>
                <a:sym typeface="Calibri"/>
              </a:rPr>
              <a:t>5. Analysis</a:t>
            </a:r>
            <a:r>
              <a:rPr b="1" lang="en-GB" sz="1100">
                <a:solidFill>
                  <a:srgbClr val="FFFFFF"/>
                </a:solidFill>
                <a:latin typeface="Calibri"/>
                <a:ea typeface="Calibri"/>
                <a:cs typeface="Calibri"/>
                <a:sym typeface="Calibri"/>
              </a:rPr>
              <a:t> and </a:t>
            </a:r>
            <a:r>
              <a:rPr b="1" lang="en-GB" sz="1100">
                <a:solidFill>
                  <a:srgbClr val="FFFFFF"/>
                </a:solidFill>
                <a:latin typeface="Calibri"/>
                <a:ea typeface="Calibri"/>
                <a:cs typeface="Calibri"/>
                <a:sym typeface="Calibri"/>
              </a:rPr>
              <a:t>Comparison</a:t>
            </a:r>
            <a:r>
              <a:rPr b="1" lang="en-GB" sz="1100">
                <a:solidFill>
                  <a:srgbClr val="FFFFFF"/>
                </a:solidFill>
                <a:latin typeface="Calibri"/>
                <a:ea typeface="Calibri"/>
                <a:cs typeface="Calibri"/>
                <a:sym typeface="Calibri"/>
              </a:rPr>
              <a:t> of </a:t>
            </a:r>
            <a:r>
              <a:rPr b="1" lang="en-GB" sz="1100">
                <a:solidFill>
                  <a:srgbClr val="FFFFFF"/>
                </a:solidFill>
                <a:latin typeface="Calibri"/>
                <a:ea typeface="Calibri"/>
                <a:cs typeface="Calibri"/>
                <a:sym typeface="Calibri"/>
              </a:rPr>
              <a:t>standard</a:t>
            </a:r>
            <a:r>
              <a:rPr b="1" lang="en-GB" sz="1100">
                <a:solidFill>
                  <a:srgbClr val="FFFFFF"/>
                </a:solidFill>
                <a:latin typeface="Calibri"/>
                <a:ea typeface="Calibri"/>
                <a:cs typeface="Calibri"/>
                <a:sym typeface="Calibri"/>
              </a:rPr>
              <a:t> metrics offered by srsRAN and the collected jrtc </a:t>
            </a:r>
            <a:r>
              <a:rPr b="1" lang="en-GB" sz="1100">
                <a:solidFill>
                  <a:srgbClr val="FFFFFF"/>
                </a:solidFill>
                <a:latin typeface="Calibri"/>
                <a:ea typeface="Calibri"/>
                <a:cs typeface="Calibri"/>
                <a:sym typeface="Calibri"/>
              </a:rPr>
              <a:t>telemetry</a:t>
            </a:r>
            <a:r>
              <a:rPr b="1" lang="en-GB" sz="1100">
                <a:solidFill>
                  <a:srgbClr val="FFFFFF"/>
                </a:solidFill>
                <a:latin typeface="Calibri"/>
                <a:ea typeface="Calibri"/>
                <a:cs typeface="Calibri"/>
                <a:sym typeface="Calibri"/>
              </a:rPr>
              <a:t> data</a:t>
            </a:r>
            <a:endParaRPr sz="1100"/>
          </a:p>
        </p:txBody>
      </p:sp>
      <p:sp>
        <p:nvSpPr>
          <p:cNvPr id="458" name="Google Shape;458;p45"/>
          <p:cNvSpPr/>
          <p:nvPr/>
        </p:nvSpPr>
        <p:spPr>
          <a:xfrm>
            <a:off x="205791" y="4114800"/>
            <a:ext cx="54878" cy="514350"/>
          </a:xfrm>
          <a:prstGeom prst="rect">
            <a:avLst/>
          </a:prstGeom>
          <a:solidFill>
            <a:srgbClr val="1A8C8C"/>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9" name="Google Shape;459;p45"/>
          <p:cNvSpPr txBox="1"/>
          <p:nvPr/>
        </p:nvSpPr>
        <p:spPr>
          <a:xfrm>
            <a:off x="205823" y="4252725"/>
            <a:ext cx="85746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Calibri"/>
                <a:ea typeface="Calibri"/>
                <a:cs typeface="Calibri"/>
                <a:sym typeface="Calibri"/>
              </a:rPr>
              <a:t>6. Custom In-Network Codelet</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22"/>
        </a:solidFill>
      </p:bgPr>
    </p:bg>
    <p:spTree>
      <p:nvGrpSpPr>
        <p:cNvPr id="463" name="Shape 463"/>
        <p:cNvGrpSpPr/>
        <p:nvPr/>
      </p:nvGrpSpPr>
      <p:grpSpPr>
        <a:xfrm>
          <a:off x="0" y="0"/>
          <a:ext cx="0" cy="0"/>
          <a:chOff x="0" y="0"/>
          <a:chExt cx="0" cy="0"/>
        </a:xfrm>
      </p:grpSpPr>
      <p:sp>
        <p:nvSpPr>
          <p:cNvPr id="464" name="Google Shape;464;p46"/>
          <p:cNvSpPr/>
          <p:nvPr/>
        </p:nvSpPr>
        <p:spPr>
          <a:xfrm>
            <a:off x="0" y="1920240"/>
            <a:ext cx="9144002" cy="41148"/>
          </a:xfrm>
          <a:prstGeom prst="rect">
            <a:avLst/>
          </a:prstGeom>
          <a:solidFill>
            <a:srgbClr val="1A6FA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5" name="Google Shape;465;p46"/>
          <p:cNvSpPr txBox="1"/>
          <p:nvPr/>
        </p:nvSpPr>
        <p:spPr>
          <a:xfrm>
            <a:off x="342986" y="891540"/>
            <a:ext cx="8437451" cy="7543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3300" u="none" cap="none" strike="noStrike">
                <a:solidFill>
                  <a:srgbClr val="FFFFFF"/>
                </a:solidFill>
                <a:latin typeface="Calibri"/>
                <a:ea typeface="Calibri"/>
                <a:cs typeface="Calibri"/>
                <a:sym typeface="Calibri"/>
              </a:rPr>
              <a:t>Thank You</a:t>
            </a:r>
            <a:endParaRPr sz="1100"/>
          </a:p>
        </p:txBody>
      </p:sp>
      <p:sp>
        <p:nvSpPr>
          <p:cNvPr id="466" name="Google Shape;466;p46"/>
          <p:cNvSpPr txBox="1"/>
          <p:nvPr/>
        </p:nvSpPr>
        <p:spPr>
          <a:xfrm>
            <a:off x="342986" y="1577340"/>
            <a:ext cx="8437451" cy="4114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700" u="none" cap="none" strike="noStrike">
                <a:solidFill>
                  <a:srgbClr val="CCCCDD"/>
                </a:solidFill>
                <a:latin typeface="Calibri"/>
                <a:ea typeface="Calibri"/>
                <a:cs typeface="Calibri"/>
                <a:sym typeface="Calibri"/>
              </a:rPr>
              <a:t>Questions?</a:t>
            </a:r>
            <a:endParaRPr sz="1100"/>
          </a:p>
        </p:txBody>
      </p:sp>
      <p:sp>
        <p:nvSpPr>
          <p:cNvPr id="467" name="Google Shape;467;p46"/>
          <p:cNvSpPr txBox="1"/>
          <p:nvPr/>
        </p:nvSpPr>
        <p:spPr>
          <a:xfrm>
            <a:off x="342986" y="2125980"/>
            <a:ext cx="843745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200" u="none" cap="none" strike="noStrike">
                <a:solidFill>
                  <a:srgbClr val="CCCCDD"/>
                </a:solidFill>
                <a:latin typeface="Calibri"/>
                <a:ea typeface="Calibri"/>
                <a:cs typeface="Calibri"/>
                <a:sym typeface="Calibri"/>
              </a:rPr>
              <a:t>github.com/MaximBitiu1/srsran-telemetry-pipeline</a:t>
            </a:r>
            <a:endParaRPr sz="1100"/>
          </a:p>
        </p:txBody>
      </p:sp>
      <p:sp>
        <p:nvSpPr>
          <p:cNvPr id="468" name="Google Shape;468;p46"/>
          <p:cNvSpPr txBox="1"/>
          <p:nvPr/>
        </p:nvSpPr>
        <p:spPr>
          <a:xfrm>
            <a:off x="480180" y="2606040"/>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69" name="Google Shape;469;p46"/>
          <p:cNvSpPr txBox="1"/>
          <p:nvPr/>
        </p:nvSpPr>
        <p:spPr>
          <a:xfrm>
            <a:off x="480180" y="2983229"/>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0" name="Google Shape;470;p46"/>
          <p:cNvSpPr txBox="1"/>
          <p:nvPr/>
        </p:nvSpPr>
        <p:spPr>
          <a:xfrm>
            <a:off x="1852123" y="2606040"/>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1" name="Google Shape;471;p46"/>
          <p:cNvSpPr txBox="1"/>
          <p:nvPr/>
        </p:nvSpPr>
        <p:spPr>
          <a:xfrm>
            <a:off x="1852123" y="2983229"/>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2" name="Google Shape;472;p46"/>
          <p:cNvSpPr txBox="1"/>
          <p:nvPr/>
        </p:nvSpPr>
        <p:spPr>
          <a:xfrm>
            <a:off x="3224067" y="2606040"/>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3" name="Google Shape;473;p46"/>
          <p:cNvSpPr txBox="1"/>
          <p:nvPr/>
        </p:nvSpPr>
        <p:spPr>
          <a:xfrm>
            <a:off x="3224067" y="2983229"/>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4" name="Google Shape;474;p46"/>
          <p:cNvSpPr txBox="1"/>
          <p:nvPr/>
        </p:nvSpPr>
        <p:spPr>
          <a:xfrm>
            <a:off x="4596010" y="2606040"/>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5" name="Google Shape;475;p46"/>
          <p:cNvSpPr txBox="1"/>
          <p:nvPr/>
        </p:nvSpPr>
        <p:spPr>
          <a:xfrm>
            <a:off x="4596010" y="2983229"/>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6" name="Google Shape;476;p46"/>
          <p:cNvSpPr txBox="1"/>
          <p:nvPr/>
        </p:nvSpPr>
        <p:spPr>
          <a:xfrm>
            <a:off x="5967952" y="2606040"/>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7" name="Google Shape;477;p46"/>
          <p:cNvSpPr txBox="1"/>
          <p:nvPr/>
        </p:nvSpPr>
        <p:spPr>
          <a:xfrm>
            <a:off x="5967952" y="2983229"/>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8" name="Google Shape;478;p46"/>
          <p:cNvSpPr txBox="1"/>
          <p:nvPr/>
        </p:nvSpPr>
        <p:spPr>
          <a:xfrm>
            <a:off x="7339896" y="2606040"/>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79" name="Google Shape;479;p46"/>
          <p:cNvSpPr txBox="1"/>
          <p:nvPr/>
        </p:nvSpPr>
        <p:spPr>
          <a:xfrm>
            <a:off x="7339896" y="2983229"/>
            <a:ext cx="1234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